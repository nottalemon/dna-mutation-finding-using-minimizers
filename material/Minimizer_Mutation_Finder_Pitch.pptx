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379" r:id="rId2"/>
    <p:sldId id="437" r:id="rId3"/>
    <p:sldId id="434" r:id="rId4"/>
    <p:sldId id="394" r:id="rId5"/>
    <p:sldId id="401" r:id="rId6"/>
    <p:sldId id="426" r:id="rId7"/>
    <p:sldId id="438" r:id="rId8"/>
    <p:sldId id="427" r:id="rId9"/>
    <p:sldId id="423" r:id="rId10"/>
    <p:sldId id="424" r:id="rId11"/>
    <p:sldId id="429" r:id="rId12"/>
    <p:sldId id="441" r:id="rId26"/>
    <p:sldId id="440" r:id="rId25"/>
    <p:sldId id="439" r:id="rId24"/>
    <p:sldId id="431" r:id="rId13"/>
    <p:sldId id="435" r:id="rId14"/>
    <p:sldId id="432" r:id="rId15"/>
    <p:sldId id="433" r:id="rId16"/>
    <p:sldId id="400" r:id="rId18"/>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03" autoAdjust="0"/>
    <p:restoredTop sz="91972" autoAdjust="0"/>
  </p:normalViewPr>
  <p:slideViewPr>
    <p:cSldViewPr snapToGrid="0">
      <p:cViewPr varScale="1">
        <p:scale>
          <a:sx n="84" d="100"/>
          <a:sy n="84" d="100"/>
        </p:scale>
        <p:origin x="345"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4.xml"/><Relationship Id="rId25" Type="http://schemas.openxmlformats.org/officeDocument/2006/relationships/slide" Target="slides/slide13.xml"/><Relationship Id="rId26"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6A973A30-4E8D-4F5A-A660-0CF9FA0EA0CF}" type="datetimeFigureOut">
              <a:rPr lang="en-IN" smtClean="0"/>
              <a:t>15-02-2026</a:t>
            </a:fld>
            <a:endParaRPr lang="en-IN"/>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7223E4C-C78F-4806-9F29-9550DE44BB40}" type="slidenum">
              <a:rPr lang="en-IN" smtClean="0"/>
              <a:t>‹#›</a:t>
            </a:fld>
            <a:endParaRPr lang="en-IN"/>
          </a:p>
        </p:txBody>
      </p:sp>
    </p:spTree>
    <p:extLst>
      <p:ext uri="{BB962C8B-B14F-4D97-AF65-F5344CB8AC3E}">
        <p14:creationId xmlns:p14="http://schemas.microsoft.com/office/powerpoint/2010/main" val="113801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223E4C-C78F-4806-9F29-9550DE44BB40}" type="slidenum">
              <a:rPr lang="en-IN" smtClean="0"/>
              <a:t>2</a:t>
            </a:fld>
            <a:endParaRPr lang="en-IN"/>
          </a:p>
        </p:txBody>
      </p:sp>
    </p:spTree>
    <p:extLst>
      <p:ext uri="{BB962C8B-B14F-4D97-AF65-F5344CB8AC3E}">
        <p14:creationId xmlns:p14="http://schemas.microsoft.com/office/powerpoint/2010/main" val="675541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close: the virus is just the dataset. The project is about the data structures: hash table, queue made of stacks, Bloom filter, BST, heap, and a dynamic-programming grid, working together in one pipeline, and about measuring them properly for a research paper.</a:t>
            </a:r>
          </a:p>
        </p:txBody>
      </p:sp>
      <p:sp>
        <p:nvSpPr>
          <p:cNvPr id="4" name="Slide Number Placeholder 3"/>
          <p:cNvSpPr>
            <a:spLocks noGrp="1"/>
          </p:cNvSpPr>
          <p:nvPr>
            <p:ph type="sldNum" sz="quarter" idx="5"/>
          </p:nvPr>
        </p:nvSpPr>
        <p:spPr/>
        <p:txBody>
          <a:bodyPr/>
          <a:lstStyle/>
          <a:p>
            <a:fld id="{77223E4C-C78F-4806-9F29-9550DE44BB40}" type="slidenum">
              <a:rPr lang="en-IN" smtClean="0"/>
              <a:t>14</a:t>
            </a:fld>
            <a:endParaRPr lang="en-IN"/>
          </a:p>
        </p:txBody>
      </p:sp>
    </p:spTree>
    <p:extLst>
      <p:ext uri="{BB962C8B-B14F-4D97-AF65-F5344CB8AC3E}">
        <p14:creationId xmlns:p14="http://schemas.microsoft.com/office/powerpoint/2010/main" val="3857590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are listed in APA style. Please verify each entry before final submission.</a:t>
            </a:r>
          </a:p>
        </p:txBody>
      </p:sp>
      <p:sp>
        <p:nvSpPr>
          <p:cNvPr id="4" name="Slide Number Placeholder 3"/>
          <p:cNvSpPr>
            <a:spLocks noGrp="1"/>
          </p:cNvSpPr>
          <p:nvPr>
            <p:ph type="sldNum" sz="quarter" idx="5"/>
          </p:nvPr>
        </p:nvSpPr>
        <p:spPr/>
        <p:txBody>
          <a:bodyPr/>
          <a:lstStyle/>
          <a:p>
            <a:fld id="{77223E4C-C78F-4806-9F29-9550DE44BB40}" type="slidenum">
              <a:rPr lang="en-IN" smtClean="0"/>
              <a:t>15</a:t>
            </a:fld>
            <a:endParaRPr lang="en-IN"/>
          </a:p>
        </p:txBody>
      </p:sp>
    </p:spTree>
    <p:extLst>
      <p:ext uri="{BB962C8B-B14F-4D97-AF65-F5344CB8AC3E}">
        <p14:creationId xmlns:p14="http://schemas.microsoft.com/office/powerpoint/2010/main" val="1640690918"/>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has two parts. First, a tool written in C that finds how a virus's genetic text differs from a known correct copy, using only classic data structures and no machine learning. Second, a research benchmarking study that measures how well the tool works, which we will write up as a research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virus's genome as a 30,000-letter text. A mutation is one letter that differs from the known correct copy. The sequencing machine can't read the whole text at once, so it gives back millions of short, shuffled pieces with a few typos. Our job: work out where each piece belongs and which letters really differ.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tools. Minimap2 uses the same minimizer idea we use. They are very good, but they are big, so a student can't read them end to end. Only a few add-on tools such as DeepVariant use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angle is not to beat Minimap2. It is to build a small, readable version where each stage is a data structure we can explain and demo. No machine learning, so every decision can be traced.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slow way is to slide each piece along the whole 30,000-letter text. That is about 6 million letter comparisons for one piece, and there are millions of pieces. And a typo in a piece must not be mistaken for a real mutation.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we build a small C tool from data structures we can explain, then benchmark it properly and write the results up as a research paper. The four objectives go from building it to measuring it to writing it 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research part: we run controlled experiments with several random seeds and measure precision, recall, time and memory. We use the real coronavirus reference genome from NCBI. We then generate the pieces ourselves, because then we know exactly which changes we planted and can grade the tool honestly.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 runs once on the reference. Phase B runs for every piece and finds its position. Phase C combines everything and lets the pieces vote on each letter. The nine stages are nine data structures, shown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DSA part. Each stage is a classic structure: the index is an array of linked lists, the window is a queue built from two stacks, the vote is a sorted array, and so on. The BST is a must-do: it tallies the votes in stage 5. The structures are the project; the virus is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real output from our toy run. Eight hits give four different starts. We insert each one into a binary search tree: smaller goes left, larger goes right, and a repeat just adds one to that node's count. Start 3 collects 5 votes, the others get 1 each. So the BST is our vote counter. Then we check the full piece at start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research part of the project. We run four controlled experiments and change one thing at a time. Every run is reproducible because seeds and settings are saved. We report whatever we find, including results that contradict our guesses. The paper is written from these results.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numbers are from our prototype on a tiny test genome, not final results. The real measurements come from the benchmark on larger test data, and they become the results section of our research paper. We will report whatever we find.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weeks, four phases. The tool is built by the end of phase 3 and the experiment runner is ready. The last phase runs the benchmark and writes the paper draft; we refine it into the full paper after the semester.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would love to show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95310"/>
            <a:ext cx="9144000" cy="2387600"/>
          </a:xfrm>
        </p:spPr>
        <p:txBody>
          <a:bodyPr anchor="b"/>
          <a:lstStyle>
            <a:lvl1pPr algn="ctr">
              <a:defRPr sz="6000">
                <a:solidFill>
                  <a:srgbClr val="002060"/>
                </a:solidFill>
                <a:latin typeface="Bookman Old Style" panose="02050604050505020204" pitchFamily="18" charset="0"/>
              </a:defRPr>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C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p:txBody>
          <a:bodyPr/>
          <a:lstStyle/>
          <a:p>
            <a:fld id="{D3F99E61-0CE5-49A0-ADAE-575C3A21A57B}" type="datetime2">
              <a:rPr lang="en-IN" smtClean="0"/>
              <a:t>Sunday, 15 February 2026</a:t>
            </a:fld>
            <a:endParaRPr lang="en-IN"/>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
        <p:nvSpPr>
          <p:cNvPr id="10" name="object 7"/>
          <p:cNvSpPr txBox="1"/>
          <p:nvPr userDrawn="1"/>
        </p:nvSpPr>
        <p:spPr>
          <a:xfrm>
            <a:off x="4541263" y="6344368"/>
            <a:ext cx="3498933" cy="377108"/>
          </a:xfrm>
          <a:prstGeom prst="rect">
            <a:avLst/>
          </a:prstGeom>
        </p:spPr>
        <p:txBody>
          <a:bodyPr wrap="square" lIns="0" tIns="7701" rIns="0" bIns="0">
            <a:spAutoFit/>
          </a:bodyPr>
          <a:lstStyle/>
          <a:p>
            <a:pPr marL="7701" algn="ctr">
              <a:spcBef>
                <a:spcPts val="61"/>
              </a:spcBef>
              <a:defRPr/>
            </a:pPr>
            <a:r>
              <a:rPr sz="2400" b="1" i="1" spc="-3" dirty="0">
                <a:solidFill>
                  <a:srgbClr val="422C75"/>
                </a:solidFill>
                <a:latin typeface="Bookman Old Style" panose="02050604050505020204" pitchFamily="18" charset="0"/>
                <a:ea typeface="ＭＳ Ｐゴシック" charset="0"/>
                <a:cs typeface="Playfair Display"/>
              </a:rPr>
              <a:t>Go, change </a:t>
            </a:r>
            <a:r>
              <a:rPr sz="2400" b="1" i="1" dirty="0">
                <a:solidFill>
                  <a:srgbClr val="422C75"/>
                </a:solidFill>
                <a:latin typeface="Bookman Old Style" panose="02050604050505020204" pitchFamily="18" charset="0"/>
                <a:ea typeface="ＭＳ Ｐゴシック" charset="0"/>
                <a:cs typeface="Playfair Display"/>
              </a:rPr>
              <a:t>the</a:t>
            </a:r>
            <a:r>
              <a:rPr sz="2400" b="1" i="1" spc="-49" dirty="0">
                <a:solidFill>
                  <a:srgbClr val="422C75"/>
                </a:solidFill>
                <a:latin typeface="Bookman Old Style" panose="02050604050505020204" pitchFamily="18" charset="0"/>
                <a:ea typeface="ＭＳ Ｐゴシック" charset="0"/>
                <a:cs typeface="Playfair Display"/>
              </a:rPr>
              <a:t> </a:t>
            </a:r>
            <a:r>
              <a:rPr sz="2400" b="1" i="1" spc="-3" dirty="0">
                <a:solidFill>
                  <a:srgbClr val="422C75"/>
                </a:solidFill>
                <a:latin typeface="Bookman Old Style" panose="02050604050505020204" pitchFamily="18" charset="0"/>
                <a:ea typeface="ＭＳ Ｐゴシック" charset="0"/>
                <a:cs typeface="Playfair Display"/>
              </a:rPr>
              <a:t>world</a:t>
            </a:r>
            <a:endParaRPr sz="2400" b="1" dirty="0">
              <a:latin typeface="Bookman Old Style" panose="02050604050505020204" pitchFamily="18" charset="0"/>
              <a:ea typeface="ＭＳ Ｐゴシック" charset="0"/>
              <a:cs typeface="Playfair Display"/>
            </a:endParaRPr>
          </a:p>
        </p:txBody>
      </p:sp>
      <p:pic>
        <p:nvPicPr>
          <p:cNvPr id="13" name="Picture 12">
            <a:extLst>
              <a:ext uri="{FF2B5EF4-FFF2-40B4-BE49-F238E27FC236}">
                <a16:creationId xmlns:a16="http://schemas.microsoft.com/office/drawing/2014/main" id="{432A6D4B-382C-5C68-3C64-26E14200A155}"/>
              </a:ext>
            </a:extLst>
          </p:cNvPr>
          <p:cNvPicPr>
            <a:picLocks noChangeAspect="1"/>
          </p:cNvPicPr>
          <p:nvPr userDrawn="1"/>
        </p:nvPicPr>
        <p:blipFill rotWithShape="1">
          <a:blip r:embed="rId2"/>
          <a:srcRect t="13833"/>
          <a:stretch/>
        </p:blipFill>
        <p:spPr>
          <a:xfrm>
            <a:off x="0" y="0"/>
            <a:ext cx="2207505" cy="997630"/>
          </a:xfrm>
          <a:prstGeom prst="rect">
            <a:avLst/>
          </a:prstGeom>
        </p:spPr>
      </p:pic>
    </p:spTree>
    <p:extLst>
      <p:ext uri="{BB962C8B-B14F-4D97-AF65-F5344CB8AC3E}">
        <p14:creationId xmlns:p14="http://schemas.microsoft.com/office/powerpoint/2010/main" val="415953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13" y="1258282"/>
            <a:ext cx="11842377" cy="4918680"/>
          </a:xfrm>
          <a:ln>
            <a:noFill/>
          </a:ln>
        </p:spPr>
        <p:txBody>
          <a:bodyPr/>
          <a:lstStyle>
            <a:lvl1pPr>
              <a:defRPr>
                <a:solidFill>
                  <a:srgbClr val="002060"/>
                </a:solidFill>
                <a:latin typeface="Bookman Old Style" panose="02050604050505020204" pitchFamily="18" charset="0"/>
              </a:defRPr>
            </a:lvl1pPr>
            <a:lvl2pPr>
              <a:defRPr>
                <a:latin typeface="Bookman Old Style" panose="02050604050505020204" pitchFamily="18" charset="0"/>
              </a:defRPr>
            </a:lvl2pPr>
            <a:lvl3pPr>
              <a:defRPr>
                <a:solidFill>
                  <a:srgbClr val="002060"/>
                </a:solidFill>
                <a:latin typeface="Bookman Old Style" panose="02050604050505020204" pitchFamily="18" charset="0"/>
              </a:defRPr>
            </a:lvl3pPr>
            <a:lvl4pPr>
              <a:defRPr>
                <a:solidFill>
                  <a:srgbClr val="002060"/>
                </a:solidFill>
                <a:latin typeface="Bookman Old Style" panose="02050604050505020204" pitchFamily="18" charset="0"/>
              </a:defRPr>
            </a:lvl4pPr>
            <a:lvl5pPr>
              <a:defRPr>
                <a:solidFill>
                  <a:srgbClr val="002060"/>
                </a:solidFill>
                <a:latin typeface="Bookman Old Style" panose="020506040505050202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object 7"/>
          <p:cNvSpPr txBox="1"/>
          <p:nvPr userDrawn="1"/>
        </p:nvSpPr>
        <p:spPr>
          <a:xfrm>
            <a:off x="5055596" y="6405140"/>
            <a:ext cx="2080806"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sp>
        <p:nvSpPr>
          <p:cNvPr id="9" name="Date Placeholder 8"/>
          <p:cNvSpPr>
            <a:spLocks noGrp="1"/>
          </p:cNvSpPr>
          <p:nvPr>
            <p:ph type="dt" sz="half" idx="10"/>
          </p:nvPr>
        </p:nvSpPr>
        <p:spPr>
          <a:xfrm>
            <a:off x="174812" y="6347205"/>
            <a:ext cx="2743200" cy="365125"/>
          </a:xfrm>
        </p:spPr>
        <p:txBody>
          <a:bodyPr/>
          <a:lstStyle>
            <a:lvl1pPr>
              <a:defRPr b="1">
                <a:solidFill>
                  <a:srgbClr val="002060"/>
                </a:solidFill>
                <a:latin typeface="Bookman Old Style" panose="02050604050505020204" pitchFamily="18" charset="0"/>
              </a:defRPr>
            </a:lvl1pPr>
          </a:lstStyle>
          <a:p>
            <a:pPr algn="ctr"/>
            <a:fld id="{6BA3F8B8-C75C-44FF-9C37-B9B69285372F}" type="datetime2">
              <a:rPr lang="en-IN" smtClean="0"/>
              <a:t>Sunday, 15 February 2026</a:t>
            </a:fld>
            <a:endParaRPr lang="en-IN" dirty="0"/>
          </a:p>
        </p:txBody>
      </p:sp>
      <p:sp>
        <p:nvSpPr>
          <p:cNvPr id="16" name="Slide Number Placeholder 15"/>
          <p:cNvSpPr>
            <a:spLocks noGrp="1"/>
          </p:cNvSpPr>
          <p:nvPr>
            <p:ph type="sldNum" sz="quarter" idx="12"/>
          </p:nvPr>
        </p:nvSpPr>
        <p:spPr>
          <a:xfrm>
            <a:off x="9273988" y="6347205"/>
            <a:ext cx="2743200" cy="365125"/>
          </a:xfrm>
        </p:spPr>
        <p:txBody>
          <a:bodyPr/>
          <a:lstStyle>
            <a:lvl1pPr>
              <a:defRPr b="1">
                <a:solidFill>
                  <a:srgbClr val="002060"/>
                </a:solidFill>
                <a:latin typeface="Bookman Old Style" panose="02050604050505020204" pitchFamily="18" charset="0"/>
              </a:defRPr>
            </a:lvl1pPr>
          </a:lstStyle>
          <a:p>
            <a:fld id="{9BA15CD2-76D6-4EFE-91D9-7087332E3318}" type="slidenum">
              <a:rPr lang="en-IN" smtClean="0"/>
              <a:pPr/>
              <a:t>‹#›</a:t>
            </a:fld>
            <a:endParaRPr lang="en-IN" dirty="0"/>
          </a:p>
        </p:txBody>
      </p:sp>
      <p:pic>
        <p:nvPicPr>
          <p:cNvPr id="5" name="Picture 4">
            <a:extLst>
              <a:ext uri="{FF2B5EF4-FFF2-40B4-BE49-F238E27FC236}">
                <a16:creationId xmlns:a16="http://schemas.microsoft.com/office/drawing/2014/main" id="{F054BB44-0752-FBF4-85E9-6BB716BF441F}"/>
              </a:ext>
            </a:extLst>
          </p:cNvPr>
          <p:cNvPicPr>
            <a:picLocks noChangeAspect="1"/>
          </p:cNvPicPr>
          <p:nvPr userDrawn="1"/>
        </p:nvPicPr>
        <p:blipFill rotWithShape="1">
          <a:blip r:embed="rId2"/>
          <a:srcRect t="13833"/>
          <a:stretch/>
        </p:blipFill>
        <p:spPr>
          <a:xfrm>
            <a:off x="-1" y="76427"/>
            <a:ext cx="2207505" cy="997630"/>
          </a:xfrm>
          <a:prstGeom prst="rect">
            <a:avLst/>
          </a:prstGeom>
        </p:spPr>
      </p:pic>
    </p:spTree>
    <p:extLst>
      <p:ext uri="{BB962C8B-B14F-4D97-AF65-F5344CB8AC3E}">
        <p14:creationId xmlns:p14="http://schemas.microsoft.com/office/powerpoint/2010/main" val="127364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8942" y="1258282"/>
            <a:ext cx="5750859" cy="4918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2" y="1258280"/>
            <a:ext cx="5795682" cy="4918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a:xfrm>
            <a:off x="268940" y="6356350"/>
            <a:ext cx="2743200" cy="365125"/>
          </a:xfrm>
        </p:spPr>
        <p:txBody>
          <a:bodyPr/>
          <a:lstStyle/>
          <a:p>
            <a:fld id="{1B8ABF7C-0B56-4C7F-B575-109DA1438369}" type="datetime2">
              <a:rPr lang="en-IN" smtClean="0"/>
              <a:t>Sunday, 15 February 2026</a:t>
            </a:fld>
            <a:endParaRPr lang="en-IN"/>
          </a:p>
        </p:txBody>
      </p:sp>
      <p:sp>
        <p:nvSpPr>
          <p:cNvPr id="7" name="Slide Number Placeholder 6"/>
          <p:cNvSpPr>
            <a:spLocks noGrp="1"/>
          </p:cNvSpPr>
          <p:nvPr>
            <p:ph type="sldNum" sz="quarter" idx="12"/>
          </p:nvPr>
        </p:nvSpPr>
        <p:spPr>
          <a:xfrm>
            <a:off x="9224683" y="6356350"/>
            <a:ext cx="2743200" cy="365125"/>
          </a:xfrm>
        </p:spPr>
        <p:txBody>
          <a:bodyPr/>
          <a:lstStyle/>
          <a:p>
            <a:fld id="{9BA15CD2-76D6-4EFE-91D9-7087332E3318}" type="slidenum">
              <a:rPr lang="en-IN" smtClean="0"/>
              <a:t>‹#›</a:t>
            </a:fld>
            <a:endParaRPr lang="en-IN"/>
          </a:p>
        </p:txBody>
      </p:sp>
      <p:grpSp>
        <p:nvGrpSpPr>
          <p:cNvPr id="12" name="Group 11"/>
          <p:cNvGrpSpPr/>
          <p:nvPr userDrawn="1"/>
        </p:nvGrpSpPr>
        <p:grpSpPr>
          <a:xfrm>
            <a:off x="4862837" y="6212514"/>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pic>
        <p:nvPicPr>
          <p:cNvPr id="2" name="Picture 1">
            <a:extLst>
              <a:ext uri="{FF2B5EF4-FFF2-40B4-BE49-F238E27FC236}">
                <a16:creationId xmlns:a16="http://schemas.microsoft.com/office/drawing/2014/main" id="{D279472C-35DE-C259-8137-352893A9BE1E}"/>
              </a:ext>
            </a:extLst>
          </p:cNvPr>
          <p:cNvPicPr>
            <a:picLocks noChangeAspect="1"/>
          </p:cNvPicPr>
          <p:nvPr userDrawn="1"/>
        </p:nvPicPr>
        <p:blipFill rotWithShape="1">
          <a:blip r:embed="rId2"/>
          <a:srcRect t="13833"/>
          <a:stretch/>
        </p:blipFill>
        <p:spPr>
          <a:xfrm>
            <a:off x="224117" y="81266"/>
            <a:ext cx="2207505" cy="997630"/>
          </a:xfrm>
          <a:prstGeom prst="rect">
            <a:avLst/>
          </a:prstGeom>
        </p:spPr>
      </p:pic>
    </p:spTree>
    <p:extLst>
      <p:ext uri="{BB962C8B-B14F-4D97-AF65-F5344CB8AC3E}">
        <p14:creationId xmlns:p14="http://schemas.microsoft.com/office/powerpoint/2010/main" val="115310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normAutofit/>
          </a:bodyPr>
          <a:lstStyle>
            <a:lvl1pPr>
              <a:defRPr sz="5400">
                <a:solidFill>
                  <a:srgbClr val="C00000"/>
                </a:solidFill>
                <a:latin typeface="Bookman Old Style" panose="02050604050505020204" pitchFamily="18" charset="0"/>
              </a:defRPr>
            </a:lvl1pPr>
          </a:lstStyle>
          <a:p>
            <a:r>
              <a:rPr lang="en-US" dirty="0"/>
              <a:t>Click to edit Master title style</a:t>
            </a:r>
            <a:endParaRPr lang="en-IN"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rgbClr val="002060"/>
                </a:solidFill>
                <a:latin typeface="Bookman Old Style" panose="020506040505050202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3E121CB2-2EF3-47E5-83C4-07D8FF657D5A}" type="datetime2">
              <a:rPr lang="en-IN" smtClean="0"/>
              <a:t>Sunday, 15 February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grpSp>
        <p:nvGrpSpPr>
          <p:cNvPr id="12" name="Group 11"/>
          <p:cNvGrpSpPr/>
          <p:nvPr userDrawn="1"/>
        </p:nvGrpSpPr>
        <p:grpSpPr>
          <a:xfrm>
            <a:off x="9842217" y="17838"/>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72407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userDrawn="1"/>
        </p:nvGrpSpPr>
        <p:grpSpPr>
          <a:xfrm>
            <a:off x="-35002" y="0"/>
            <a:ext cx="12191145" cy="6858000"/>
            <a:chOff x="-35003" y="-1"/>
            <a:chExt cx="12191144" cy="6858000"/>
          </a:xfrm>
        </p:grpSpPr>
        <p:sp>
          <p:nvSpPr>
            <p:cNvPr id="11" name="Rectangle 10"/>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2" name="Group 11"/>
            <p:cNvGrpSpPr/>
            <p:nvPr userDrawn="1"/>
          </p:nvGrpSpPr>
          <p:grpSpPr>
            <a:xfrm>
              <a:off x="0" y="-1"/>
              <a:ext cx="1174375" cy="932329"/>
              <a:chOff x="1" y="0"/>
              <a:chExt cx="995082" cy="663388"/>
            </a:xfrm>
          </p:grpSpPr>
          <p:sp>
            <p:nvSpPr>
              <p:cNvPr id="13"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4"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E72AF35-25D4-42D1-A380-D94D58C90ED6}" type="datetime2">
              <a:rPr lang="en-IN" smtClean="0"/>
              <a:t>Sunday, 15 February 2026</a:t>
            </a:fld>
            <a:endParaRPr lang="en-IN"/>
          </a:p>
        </p:txBody>
      </p:sp>
      <p:sp>
        <p:nvSpPr>
          <p:cNvPr id="8" name="Footer Placeholder 7"/>
          <p:cNvSpPr>
            <a:spLocks noGrp="1"/>
          </p:cNvSpPr>
          <p:nvPr>
            <p:ph type="ftr" sz="quarter" idx="11"/>
          </p:nvPr>
        </p:nvSpPr>
        <p:spPr/>
        <p:txBody>
          <a:bodyPr/>
          <a:lstStyle>
            <a:lvl1pPr>
              <a:defRPr b="1">
                <a:solidFill>
                  <a:srgbClr val="C00000"/>
                </a:solidFill>
                <a:latin typeface="Bookman Old Style" panose="02050604050505020204" pitchFamily="18" charset="0"/>
              </a:defRPr>
            </a:lvl1pPr>
          </a:lstStyle>
          <a:p>
            <a:r>
              <a:rPr lang="en-GB" dirty="0"/>
              <a:t>RV COLLEGE OF ENGINEERING</a:t>
            </a:r>
            <a:endParaRPr lang="en-IN" dirty="0"/>
          </a:p>
        </p:txBody>
      </p:sp>
      <p:sp>
        <p:nvSpPr>
          <p:cNvPr id="9" name="Slide Number Placeholder 8"/>
          <p:cNvSpPr>
            <a:spLocks noGrp="1"/>
          </p:cNvSpPr>
          <p:nvPr>
            <p:ph type="sldNum" sz="quarter" idx="12"/>
          </p:nvPr>
        </p:nvSpPr>
        <p:spPr/>
        <p:txBody>
          <a:bodyPr/>
          <a:lstStyle/>
          <a:p>
            <a:fld id="{9BA15CD2-76D6-4EFE-91D9-7087332E3318}" type="slidenum">
              <a:rPr lang="en-IN" smtClean="0"/>
              <a:t>‹#›</a:t>
            </a:fld>
            <a:endParaRPr lang="en-IN"/>
          </a:p>
        </p:txBody>
      </p:sp>
      <p:grpSp>
        <p:nvGrpSpPr>
          <p:cNvPr id="15" name="Group 14"/>
          <p:cNvGrpSpPr/>
          <p:nvPr userDrawn="1"/>
        </p:nvGrpSpPr>
        <p:grpSpPr>
          <a:xfrm>
            <a:off x="9842217" y="17838"/>
            <a:ext cx="2313924" cy="600635"/>
            <a:chOff x="9682912" y="8965"/>
            <a:chExt cx="2402541" cy="600635"/>
          </a:xfrm>
        </p:grpSpPr>
        <p:sp>
          <p:nvSpPr>
            <p:cNvPr id="16" name="Rounded Rectangle 15"/>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7"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219238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0974DEC-F31F-442A-AF7E-39FCF65F09EF}" type="datetime2">
              <a:rPr lang="en-IN" smtClean="0"/>
              <a:t>Sunday, 15 February 2026</a:t>
            </a:fld>
            <a:endParaRPr lang="en-IN"/>
          </a:p>
        </p:txBody>
      </p:sp>
      <p:sp>
        <p:nvSpPr>
          <p:cNvPr id="4" name="Footer Placeholder 3"/>
          <p:cNvSpPr>
            <a:spLocks noGrp="1"/>
          </p:cNvSpPr>
          <p:nvPr>
            <p:ph type="ftr" sz="quarter" idx="11"/>
          </p:nvPr>
        </p:nvSpPr>
        <p:spPr/>
        <p:txBody>
          <a:bodyPr/>
          <a:lstStyle/>
          <a:p>
            <a:r>
              <a:rPr lang="en-IN"/>
              <a:t>RV COLLEGE OF ENGINEERING</a:t>
            </a:r>
          </a:p>
        </p:txBody>
      </p:sp>
      <p:sp>
        <p:nvSpPr>
          <p:cNvPr id="5" name="Slide Number Placeholder 4"/>
          <p:cNvSpPr>
            <a:spLocks noGrp="1"/>
          </p:cNvSpPr>
          <p:nvPr>
            <p:ph type="sldNum" sz="quarter" idx="12"/>
          </p:nvPr>
        </p:nvSpPr>
        <p:spPr/>
        <p:txBody>
          <a:bodyPr/>
          <a:lstStyle/>
          <a:p>
            <a:fld id="{9BA15CD2-76D6-4EFE-91D9-7087332E3318}" type="slidenum">
              <a:rPr lang="en-IN" smtClean="0"/>
              <a:t>‹#›</a:t>
            </a:fld>
            <a:endParaRPr lang="en-IN"/>
          </a:p>
        </p:txBody>
      </p:sp>
      <p:grpSp>
        <p:nvGrpSpPr>
          <p:cNvPr id="7" name="Group 6"/>
          <p:cNvGrpSpPr/>
          <p:nvPr userDrawn="1"/>
        </p:nvGrpSpPr>
        <p:grpSpPr>
          <a:xfrm>
            <a:off x="0" y="1"/>
            <a:ext cx="1174375" cy="932329"/>
            <a:chOff x="1" y="0"/>
            <a:chExt cx="995082" cy="663388"/>
          </a:xfrm>
        </p:grpSpPr>
        <p:sp>
          <p:nvSpPr>
            <p:cNvPr id="8"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9"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nvGrpSpPr>
          <p:cNvPr id="10" name="Group 9"/>
          <p:cNvGrpSpPr/>
          <p:nvPr userDrawn="1"/>
        </p:nvGrpSpPr>
        <p:grpSpPr>
          <a:xfrm>
            <a:off x="9842217" y="17838"/>
            <a:ext cx="2313924" cy="600635"/>
            <a:chOff x="9682912" y="8965"/>
            <a:chExt cx="2402541" cy="600635"/>
          </a:xfrm>
        </p:grpSpPr>
        <p:sp>
          <p:nvSpPr>
            <p:cNvPr id="11" name="Rounded Rectangle 10"/>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2"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44950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sp>
        <p:nvSpPr>
          <p:cNvPr id="2" name="Date Placeholder 1"/>
          <p:cNvSpPr>
            <a:spLocks noGrp="1"/>
          </p:cNvSpPr>
          <p:nvPr>
            <p:ph type="dt" sz="half" idx="10"/>
          </p:nvPr>
        </p:nvSpPr>
        <p:spPr/>
        <p:txBody>
          <a:bodyPr/>
          <a:lstStyle/>
          <a:p>
            <a:fld id="{664BAEB3-0664-49E1-9FE0-BA29E4444757}" type="datetime2">
              <a:rPr lang="en-IN" smtClean="0"/>
              <a:t>Sunday, 15 February 2026</a:t>
            </a:fld>
            <a:endParaRPr lang="en-IN"/>
          </a:p>
        </p:txBody>
      </p:sp>
      <p:sp>
        <p:nvSpPr>
          <p:cNvPr id="3" name="Footer Placeholder 2"/>
          <p:cNvSpPr>
            <a:spLocks noGrp="1"/>
          </p:cNvSpPr>
          <p:nvPr>
            <p:ph type="ftr" sz="quarter" idx="11"/>
          </p:nvPr>
        </p:nvSpPr>
        <p:spPr/>
        <p:txBody>
          <a:bodyPr/>
          <a:lstStyle/>
          <a:p>
            <a:r>
              <a:rPr lang="en-IN"/>
              <a:t>RV COLLEGE OF ENGINEERING</a:t>
            </a:r>
          </a:p>
        </p:txBody>
      </p:sp>
      <p:sp>
        <p:nvSpPr>
          <p:cNvPr id="4" name="Slide Number Placeholder 3"/>
          <p:cNvSpPr>
            <a:spLocks noGrp="1"/>
          </p:cNvSpPr>
          <p:nvPr>
            <p:ph type="sldNum" sz="quarter" idx="12"/>
          </p:nvPr>
        </p:nvSpPr>
        <p:spPr/>
        <p:txBody>
          <a:bodyPr/>
          <a:lstStyle/>
          <a:p>
            <a:fld id="{9BA15CD2-76D6-4EFE-91D9-7087332E3318}" type="slidenum">
              <a:rPr lang="en-IN" smtClean="0"/>
              <a:t>‹#›</a:t>
            </a:fld>
            <a:endParaRPr lang="en-IN"/>
          </a:p>
        </p:txBody>
      </p:sp>
      <p:grpSp>
        <p:nvGrpSpPr>
          <p:cNvPr id="6" name="Group 5"/>
          <p:cNvGrpSpPr/>
          <p:nvPr userDrawn="1"/>
        </p:nvGrpSpPr>
        <p:grpSpPr>
          <a:xfrm>
            <a:off x="9842217" y="17838"/>
            <a:ext cx="2313924" cy="600635"/>
            <a:chOff x="9682912" y="8965"/>
            <a:chExt cx="2402541" cy="600635"/>
          </a:xfrm>
        </p:grpSpPr>
        <p:sp>
          <p:nvSpPr>
            <p:cNvPr id="7" name="Rounded Rectangle 6"/>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8"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grpSp>
        <p:nvGrpSpPr>
          <p:cNvPr id="9" name="Group 8"/>
          <p:cNvGrpSpPr/>
          <p:nvPr userDrawn="1"/>
        </p:nvGrpSpPr>
        <p:grpSpPr>
          <a:xfrm>
            <a:off x="0" y="1"/>
            <a:ext cx="1174375" cy="932329"/>
            <a:chOff x="1" y="0"/>
            <a:chExt cx="995082" cy="663388"/>
          </a:xfrm>
        </p:grpSpPr>
        <p:sp>
          <p:nvSpPr>
            <p:cNvPr id="10"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1"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339075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userDrawn="1"/>
        </p:nvGrpSpPr>
        <p:grpSpPr>
          <a:xfrm>
            <a:off x="-35002" y="0"/>
            <a:ext cx="12191145" cy="6858000"/>
            <a:chOff x="-35003" y="-1"/>
            <a:chExt cx="12191144" cy="6858000"/>
          </a:xfrm>
        </p:grpSpPr>
        <p:sp>
          <p:nvSpPr>
            <p:cNvPr id="9" name="Rectangle 8"/>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0" name="Group 9"/>
            <p:cNvGrpSpPr/>
            <p:nvPr userDrawn="1"/>
          </p:nvGrpSpPr>
          <p:grpSpPr>
            <a:xfrm>
              <a:off x="0" y="-1"/>
              <a:ext cx="1174375" cy="932329"/>
              <a:chOff x="1" y="0"/>
              <a:chExt cx="995082" cy="663388"/>
            </a:xfrm>
          </p:grpSpPr>
          <p:sp>
            <p:nvSpPr>
              <p:cNvPr id="11"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2"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F77AC3-F117-417D-9C17-587E6F3BE300}" type="datetime2">
              <a:rPr lang="en-IN" smtClean="0"/>
              <a:t>Sunday, 15 February 2026</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grpSp>
        <p:nvGrpSpPr>
          <p:cNvPr id="13" name="Group 12"/>
          <p:cNvGrpSpPr/>
          <p:nvPr userDrawn="1"/>
        </p:nvGrpSpPr>
        <p:grpSpPr>
          <a:xfrm>
            <a:off x="9842217" y="17838"/>
            <a:ext cx="2313924" cy="600635"/>
            <a:chOff x="9682912" y="8965"/>
            <a:chExt cx="2402541" cy="600635"/>
          </a:xfrm>
        </p:grpSpPr>
        <p:sp>
          <p:nvSpPr>
            <p:cNvPr id="14" name="Rounded Rectangle 13"/>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5"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98668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51A392-D277-4C60-80CA-4155BF24A22F}" type="datetime2">
              <a:rPr lang="en-IN" smtClean="0"/>
              <a:t>Sunday, 15 February 2026</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71507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57930-B2AB-48F5-8AD5-4A9179262E34}" type="datetime2">
              <a:rPr lang="en-IN" smtClean="0"/>
              <a:t>Sunday, 15 February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3216580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20EB2B-9CFC-43E8-806F-531A6B6EF1FD}" type="datetime2">
              <a:rPr lang="en-IN" smtClean="0"/>
              <a:t>Sunday, 15 February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12164030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0449F-E26E-4CC2-B153-3EB375A0CF11}" type="datetime2">
              <a:rPr lang="en-IN" smtClean="0"/>
              <a:t>Sunday, 15 February 2026</a:t>
            </a:fld>
            <a:endParaRPr lang="en-IN"/>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RV COLLEGE OF ENGINEERING</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15CD2-76D6-4EFE-91D9-7087332E3318}" type="slidenum">
              <a:rPr lang="en-IN" smtClean="0"/>
              <a:t>‹#›</a:t>
            </a:fld>
            <a:endParaRPr lang="en-IN"/>
          </a:p>
        </p:txBody>
      </p:sp>
    </p:spTree>
    <p:extLst>
      <p:ext uri="{BB962C8B-B14F-4D97-AF65-F5344CB8AC3E}">
        <p14:creationId xmlns:p14="http://schemas.microsoft.com/office/powerpoint/2010/main" val="362659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 Id="rId3"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2F227B2-6E6E-A65E-A828-6F23B8D5E0AD}"/>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4C9311E5-35F6-67F8-BA96-85A5A20D3355}"/>
              </a:ext>
            </a:extLst>
          </p:cNvPr>
          <p:cNvSpPr>
            <a:spLocks noGrp="1"/>
          </p:cNvSpPr>
          <p:nvPr>
            <p:ph type="sldNum" sz="quarter" idx="12"/>
          </p:nvPr>
        </p:nvSpPr>
        <p:spPr/>
        <p:txBody>
          <a:bodyPr/>
          <a:lstStyle/>
          <a:p>
            <a:fld id="{9BA15CD2-76D6-4EFE-91D9-7087332E3318}" type="slidenum">
              <a:rPr lang="en-IN" smtClean="0"/>
              <a:pPr/>
              <a:t>1</a:t>
            </a:fld>
            <a:endParaRPr lang="en-IN" dirty="0"/>
          </a:p>
        </p:txBody>
      </p:sp>
      <p:pic>
        <p:nvPicPr>
          <p:cNvPr id="7" name="Content Placeholder 6" descr="A building with a roof&#10;&#10;Description automatically generated">
            <a:extLst>
              <a:ext uri="{FF2B5EF4-FFF2-40B4-BE49-F238E27FC236}">
                <a16:creationId xmlns:a16="http://schemas.microsoft.com/office/drawing/2014/main" id="{4FFF1151-EB75-7914-B2AB-B16B6A02070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21879" y="1067010"/>
            <a:ext cx="11421075" cy="38940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47401447-E36D-D6F9-70CD-9802DA9AD004}"/>
              </a:ext>
            </a:extLst>
          </p:cNvPr>
          <p:cNvSpPr/>
          <p:nvPr/>
        </p:nvSpPr>
        <p:spPr>
          <a:xfrm>
            <a:off x="349046" y="4146929"/>
            <a:ext cx="11493908" cy="10048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altLang="en-US" sz="3600" b="1" baseline="0" dirty="0">
                <a:solidFill>
                  <a:schemeClr val="bg1"/>
                </a:solidFill>
                <a:latin typeface="Bookman Old Style" panose="02050604050505020204" pitchFamily="18" charset="0"/>
                <a:cs typeface="Arial" panose="020B0604020202020204" pitchFamily="34" charset="0"/>
              </a:rPr>
              <a:t>Minimizer-Based Mutation Finder</a:t>
            </a:r>
          </a:p>
        </p:txBody>
      </p:sp>
      <p:sp>
        <p:nvSpPr>
          <p:cNvPr id="5" name="Rectangle: Rounded Corners 4">
            <a:extLst>
              <a:ext uri="{FF2B5EF4-FFF2-40B4-BE49-F238E27FC236}">
                <a16:creationId xmlns:a16="http://schemas.microsoft.com/office/drawing/2014/main" id="{2E49E1EB-59AB-C0C7-9FA4-FC809A9DB13F}"/>
              </a:ext>
            </a:extLst>
          </p:cNvPr>
          <p:cNvSpPr/>
          <p:nvPr/>
        </p:nvSpPr>
        <p:spPr>
          <a:xfrm>
            <a:off x="349045" y="5288583"/>
            <a:ext cx="11421075" cy="10048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altLang="en-US" sz="2800" b="1" baseline="0" dirty="0">
                <a:solidFill>
                  <a:schemeClr val="bg1"/>
                </a:solidFill>
                <a:latin typeface="Bookman Old Style" panose="02050604050505020204" pitchFamily="18" charset="0"/>
                <a:cs typeface="Arial" panose="020B0604020202020204" pitchFamily="34" charset="0"/>
              </a:rPr>
              <a:t>DSA PBL | Tool + Research Benchmarking Study</a:t>
            </a:r>
          </a:p>
        </p:txBody>
      </p:sp>
    </p:spTree>
    <p:extLst>
      <p:ext uri="{BB962C8B-B14F-4D97-AF65-F5344CB8AC3E}">
        <p14:creationId xmlns:p14="http://schemas.microsoft.com/office/powerpoint/2010/main" val="309214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6889F6E-2644-470A-09AE-09617FF74D5A}"/>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C7811D0B-A497-CCEB-18F3-DF0DC6D1628D}"/>
              </a:ext>
            </a:extLst>
          </p:cNvPr>
          <p:cNvSpPr>
            <a:spLocks noGrp="1"/>
          </p:cNvSpPr>
          <p:nvPr>
            <p:ph type="sldNum" sz="quarter" idx="12"/>
          </p:nvPr>
        </p:nvSpPr>
        <p:spPr/>
        <p:txBody>
          <a:bodyPr/>
          <a:lstStyle/>
          <a:p>
            <a:fld id="{9BA15CD2-76D6-4EFE-91D9-7087332E3318}" type="slidenum">
              <a:rPr lang="en-IN" smtClean="0"/>
              <a:pPr/>
              <a:t>2</a:t>
            </a:fld>
            <a:endParaRPr lang="en-IN" dirty="0"/>
          </a:p>
        </p:txBody>
      </p:sp>
      <p:sp>
        <p:nvSpPr>
          <p:cNvPr id="8" name="Title 1">
            <a:extLst>
              <a:ext uri="{FF2B5EF4-FFF2-40B4-BE49-F238E27FC236}">
                <a16:creationId xmlns:a16="http://schemas.microsoft.com/office/drawing/2014/main" id="{4573A078-BA93-071D-8183-CC619DC9A598}"/>
              </a:ext>
            </a:extLst>
          </p:cNvPr>
          <p:cNvSpPr txBox="1">
            <a:spLocks/>
          </p:cNvSpPr>
          <p:nvPr/>
        </p:nvSpPr>
        <p:spPr>
          <a:xfrm>
            <a:off x="273503" y="4671067"/>
            <a:ext cx="4001246" cy="1676137"/>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2000" dirty="0"/>
              <a:t>Mentor Name</a:t>
            </a:r>
          </a:p>
          <a:p>
            <a:r>
              <a:rPr lang="en-IN" sz="2000" dirty="0"/>
              <a:t>Designation </a:t>
            </a:r>
          </a:p>
          <a:p>
            <a:r>
              <a:rPr lang="en-IN" sz="2000" dirty="0"/>
              <a:t>Department</a:t>
            </a:r>
          </a:p>
        </p:txBody>
      </p:sp>
      <p:sp>
        <p:nvSpPr>
          <p:cNvPr id="18" name="TextBox 17">
            <a:extLst>
              <a:ext uri="{FF2B5EF4-FFF2-40B4-BE49-F238E27FC236}">
                <a16:creationId xmlns:a16="http://schemas.microsoft.com/office/drawing/2014/main" id="{2CA73031-20B1-414E-A3F9-2B2B03FFBE11}"/>
              </a:ext>
            </a:extLst>
          </p:cNvPr>
          <p:cNvSpPr txBox="1"/>
          <p:nvPr/>
        </p:nvSpPr>
        <p:spPr>
          <a:xfrm>
            <a:off x="715427" y="2782138"/>
            <a:ext cx="2470459" cy="461665"/>
          </a:xfrm>
          <a:prstGeom prst="rect">
            <a:avLst/>
          </a:prstGeom>
          <a:noFill/>
        </p:spPr>
        <p:txBody>
          <a:bodyPr wrap="square">
            <a:spAutoFit/>
          </a:bodyPr>
          <a:lstStyle/>
          <a:p>
            <a:r>
              <a:rPr lang="en-IN" sz="2400" b="1" i="0" u="sng" strike="noStrike" dirty="0">
                <a:solidFill>
                  <a:srgbClr val="000000"/>
                </a:solidFill>
                <a:effectLst/>
                <a:latin typeface="Arial" panose="020B0604020202020204" pitchFamily="34" charset="0"/>
              </a:rPr>
              <a:t>Mentor Photo</a:t>
            </a:r>
            <a:endParaRPr lang="en-IN" sz="2400" b="1" u="sng" dirty="0"/>
          </a:p>
        </p:txBody>
      </p:sp>
    </p:spTree>
    <p:extLst>
      <p:ext uri="{BB962C8B-B14F-4D97-AF65-F5344CB8AC3E}">
        <p14:creationId xmlns:p14="http://schemas.microsoft.com/office/powerpoint/2010/main" val="1353094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18012" y="103831"/>
            <a:ext cx="6154436" cy="6243374"/>
          </a:xfrm>
        </p:spPr>
      </p:pic>
      <p:sp>
        <p:nvSpPr>
          <p:cNvPr id="3" name="Date Placeholder 2"/>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p:cNvSpPr>
            <a:spLocks noGrp="1"/>
          </p:cNvSpPr>
          <p:nvPr>
            <p:ph type="sldNum" sz="quarter" idx="12"/>
          </p:nvPr>
        </p:nvSpPr>
        <p:spPr/>
        <p:txBody>
          <a:bodyPr/>
          <a:lstStyle/>
          <a:p>
            <a:fld id="{9BA15CD2-76D6-4EFE-91D9-7087332E3318}" type="slidenum">
              <a:rPr lang="en-IN" smtClean="0"/>
              <a:pPr/>
              <a:t>3</a:t>
            </a:fld>
            <a:endParaRPr lang="en-IN" dirty="0"/>
          </a:p>
        </p:txBody>
      </p:sp>
    </p:spTree>
    <p:extLst>
      <p:ext uri="{BB962C8B-B14F-4D97-AF65-F5344CB8AC3E}">
        <p14:creationId xmlns:p14="http://schemas.microsoft.com/office/powerpoint/2010/main" val="3281997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B1C1988-AE0B-88A3-3DF6-11D7B6584DFA}"/>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3B09EF8A-63AB-0729-F7A0-B08D1E293C9B}"/>
              </a:ext>
            </a:extLst>
          </p:cNvPr>
          <p:cNvSpPr>
            <a:spLocks noGrp="1"/>
          </p:cNvSpPr>
          <p:nvPr>
            <p:ph type="sldNum" sz="quarter" idx="12"/>
          </p:nvPr>
        </p:nvSpPr>
        <p:spPr/>
        <p:txBody>
          <a:bodyPr/>
          <a:lstStyle/>
          <a:p>
            <a:fld id="{9BA15CD2-76D6-4EFE-91D9-7087332E3318}" type="slidenum">
              <a:rPr lang="en-IN" smtClean="0"/>
              <a:pPr/>
              <a:t>4</a:t>
            </a:fld>
            <a:endParaRPr lang="en-IN" dirty="0"/>
          </a:p>
        </p:txBody>
      </p:sp>
      <p:sp>
        <p:nvSpPr>
          <p:cNvPr id="6" name="Title 1">
            <a:extLst>
              <a:ext uri="{FF2B5EF4-FFF2-40B4-BE49-F238E27FC236}">
                <a16:creationId xmlns:a16="http://schemas.microsoft.com/office/drawing/2014/main" id="{BEBB7EA9-E087-F494-97C5-06B13A2535A6}"/>
              </a:ext>
            </a:extLst>
          </p:cNvPr>
          <p:cNvSpPr txBox="1">
            <a:spLocks/>
          </p:cNvSpPr>
          <p:nvPr/>
        </p:nvSpPr>
        <p:spPr>
          <a:xfrm>
            <a:off x="2339498" y="178833"/>
            <a:ext cx="8551282" cy="638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dirty="0">
              <a:solidFill>
                <a:srgbClr val="C00000"/>
              </a:solidFill>
            </a:endParaRPr>
          </a:p>
        </p:txBody>
      </p:sp>
      <p:sp>
        <p:nvSpPr>
          <p:cNvPr id="2" name="Title 1">
            <a:extLst>
              <a:ext uri="{FF2B5EF4-FFF2-40B4-BE49-F238E27FC236}">
                <a16:creationId xmlns:a16="http://schemas.microsoft.com/office/drawing/2014/main" id="{F4C92045-E69D-E287-24F9-F3EC5A13CCB1}"/>
              </a:ext>
            </a:extLst>
          </p:cNvPr>
          <p:cNvSpPr txBox="1">
            <a:spLocks/>
          </p:cNvSpPr>
          <p:nvPr/>
        </p:nvSpPr>
        <p:spPr>
          <a:xfrm>
            <a:off x="2303985" y="261799"/>
            <a:ext cx="8151863" cy="131995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EL Phase—1</a:t>
            </a:r>
          </a:p>
          <a:p>
            <a:r>
              <a:rPr lang="en-IN" sz="4000" dirty="0"/>
              <a:t>Presentation Outline</a:t>
            </a:r>
          </a:p>
        </p:txBody>
      </p:sp>
      <p:sp>
        <p:nvSpPr>
          <p:cNvPr id="8" name="Content Placeholder 7">
            <a:extLst>
              <a:ext uri="{FF2B5EF4-FFF2-40B4-BE49-F238E27FC236}">
                <a16:creationId xmlns:a16="http://schemas.microsoft.com/office/drawing/2014/main" id="{EB2484C8-68BC-9AA1-D8C5-282E3D75696E}"/>
              </a:ext>
            </a:extLst>
          </p:cNvPr>
          <p:cNvSpPr>
            <a:spLocks noGrp="1"/>
          </p:cNvSpPr>
          <p:nvPr>
            <p:ph idx="1"/>
          </p:nvPr>
        </p:nvSpPr>
        <p:spPr>
          <a:xfrm>
            <a:off x="575733" y="1666874"/>
            <a:ext cx="11441457" cy="4510087"/>
          </a:xfrm>
        </p:spPr>
        <p:txBody>
          <a:bodyPr>
            <a:normAutofit lnSpcReduction="10000"/>
          </a:bodyPr>
          <a:lstStyle/>
          <a:p>
            <a:r>
              <a:rPr lang="en-US" dirty="0"/>
              <a:t>Introduction</a:t>
            </a:r>
          </a:p>
          <a:p>
            <a:r>
              <a:rPr lang="en-US" dirty="0"/>
              <a:t>Literature Review</a:t>
            </a:r>
          </a:p>
          <a:p>
            <a:r>
              <a:rPr lang="en-US" dirty="0"/>
              <a:t>Problem Definition</a:t>
            </a:r>
          </a:p>
          <a:p>
            <a:r>
              <a:rPr lang="en-US" dirty="0"/>
              <a:t>Objectives</a:t>
            </a:r>
          </a:p>
          <a:p>
            <a:r>
              <a:rPr lang="en-IN" dirty="0"/>
              <a:t>Methodology</a:t>
            </a:r>
          </a:p>
          <a:p>
            <a:r>
              <a:rPr lang="en-IN" dirty="0"/>
              <a:t>Proposed Outcomes</a:t>
            </a:r>
          </a:p>
          <a:p>
            <a:r>
              <a:rPr lang="en-US" dirty="0"/>
              <a:t>Timeline of the project</a:t>
            </a:r>
            <a:endParaRPr lang="en-IN" dirty="0"/>
          </a:p>
          <a:p>
            <a:r>
              <a:rPr lang="en-IN" dirty="0"/>
              <a:t>Conclusion</a:t>
            </a:r>
          </a:p>
          <a:p>
            <a:r>
              <a:rPr lang="en-IN" dirty="0"/>
              <a:t>References</a:t>
            </a:r>
          </a:p>
        </p:txBody>
      </p:sp>
    </p:spTree>
    <p:extLst>
      <p:ext uri="{BB962C8B-B14F-4D97-AF65-F5344CB8AC3E}">
        <p14:creationId xmlns:p14="http://schemas.microsoft.com/office/powerpoint/2010/main" val="658094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51775-AAB3-6740-9A5D-BF7C9197E45B}"/>
              </a:ext>
            </a:extLst>
          </p:cNvPr>
          <p:cNvSpPr>
            <a:spLocks noGrp="1"/>
          </p:cNvSpPr>
          <p:nvPr>
            <p:ph idx="1"/>
          </p:nvPr>
        </p:nvSpPr>
        <p:spPr>
          <a:xfrm>
            <a:off x="548640" y="1097280"/>
            <a:ext cx="11064240" cy="3566160"/>
          </a:xfrm>
        </p:spPr>
        <p:txBody>
          <a:bodyPr wrap="square">
            <a:noAutofit/>
          </a:bodyPr>
          <a:lstStyle/>
          <a:p>
            <a:pPr>
              <a:spcAft>
                <a:spcPts val="600"/>
              </a:spcAft>
            </a:pPr>
            <a:r>
              <a:rPr sz="2000">
                <a:solidFill>
                  <a:srgbClr val="002060"/>
                </a:solidFill>
              </a:rPr>
              <a:t>Every virus carries its instructions as one very long text written with just 4 letters: A, C, G, T.</a:t>
            </a:r>
          </a:p>
          <a:p>
            <a:pPr>
              <a:spcAft>
                <a:spcPts val="600"/>
              </a:spcAft>
            </a:pPr>
            <a:r>
              <a:rPr sz="2000">
                <a:solidFill>
                  <a:srgbClr val="002060"/>
                </a:solidFill>
              </a:rPr>
              <a:t>The coronavirus text is about 30,000 letters long. When the virus spreads, a few letters change. A changed letter is called a mutation.</a:t>
            </a:r>
          </a:p>
          <a:p>
            <a:pPr>
              <a:spcAft>
                <a:spcPts val="600"/>
              </a:spcAft>
            </a:pPr>
            <a:r>
              <a:rPr sz="2000">
                <a:solidFill>
                  <a:srgbClr val="002060"/>
                </a:solidFill>
              </a:rPr>
              <a:t>Finding the mutations tells doctors whether a patient has a new variant.</a:t>
            </a:r>
          </a:p>
          <a:p>
            <a:pPr>
              <a:spcAft>
                <a:spcPts val="600"/>
              </a:spcAft>
            </a:pPr>
            <a:r>
              <a:rPr sz="2000">
                <a:solidFill>
                  <a:srgbClr val="002060"/>
                </a:solidFill>
              </a:rPr>
              <a:t>The catch: the reading machine returns millions of short, shuffled pieces (100 to 300 letters), and a few letters in them are typos.</a:t>
            </a:r>
          </a:p>
        </p:txBody>
      </p:sp>
      <p:sp>
        <p:nvSpPr>
          <p:cNvPr id="3" name="Date Placeholder 2">
            <a:extLst>
              <a:ext uri="{FF2B5EF4-FFF2-40B4-BE49-F238E27FC236}">
                <a16:creationId xmlns:a16="http://schemas.microsoft.com/office/drawing/2014/main" id="{EDFCC6EA-140E-7258-C5BE-07A799DCC575}"/>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991113B7-13B3-C292-E8C9-16465C8FCA55}"/>
              </a:ext>
            </a:extLst>
          </p:cNvPr>
          <p:cNvSpPr>
            <a:spLocks noGrp="1"/>
          </p:cNvSpPr>
          <p:nvPr>
            <p:ph type="sldNum" sz="quarter" idx="12"/>
          </p:nvPr>
        </p:nvSpPr>
        <p:spPr/>
        <p:txBody>
          <a:bodyPr/>
          <a:lstStyle/>
          <a:p>
            <a:r>
              <a:rPr lang="en-IN" dirty="0"/>
              <a:t>Slide No. </a:t>
            </a:r>
            <a:fld id="{9BA15CD2-76D6-4EFE-91D9-7087332E3318}" type="slidenum">
              <a:rPr lang="en-IN" smtClean="0"/>
              <a:pPr/>
              <a:t>5</a:t>
            </a:fld>
            <a:endParaRPr lang="en-IN" dirty="0"/>
          </a:p>
        </p:txBody>
      </p:sp>
      <p:sp>
        <p:nvSpPr>
          <p:cNvPr id="2" name="Title 1">
            <a:extLst>
              <a:ext uri="{FF2B5EF4-FFF2-40B4-BE49-F238E27FC236}">
                <a16:creationId xmlns:a16="http://schemas.microsoft.com/office/drawing/2014/main" id="{8D8FE783-AFDF-B298-CC26-D9899A64E440}"/>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Introduction</a:t>
            </a:r>
            <a:endParaRPr lang="en-IN" sz="4000" dirty="0"/>
          </a:p>
        </p:txBody>
      </p:sp>
      <p:sp>
        <p:nvSpPr>
          <p:cNvPr id="6" name="TextBox 5"/>
          <p:cNvSpPr txBox="1"/>
          <p:nvPr/>
        </p:nvSpPr>
        <p:spPr>
          <a:xfrm>
            <a:off x="548640" y="4800600"/>
            <a:ext cx="3108960" cy="402336"/>
          </a:xfrm>
          <a:prstGeom prst="rect">
            <a:avLst/>
          </a:prstGeom>
          <a:noFill/>
        </p:spPr>
        <p:txBody>
          <a:bodyPr wrap="square" anchor="ctr" lIns="45720" rIns="45720" tIns="27432" bIns="27432">
            <a:spAutoFit/>
          </a:bodyPr>
          <a:lstStyle/>
          <a:p>
            <a:pPr algn="r"/>
            <a:r>
              <a:rPr sz="1600" b="1" i="0">
                <a:solidFill>
                  <a:srgbClr val="002060"/>
                </a:solidFill>
                <a:latin typeface="Bookman Old Style"/>
              </a:rPr>
              <a:t>Known correct text</a:t>
            </a:r>
          </a:p>
        </p:txBody>
      </p:sp>
      <p:sp>
        <p:nvSpPr>
          <p:cNvPr id="7" name="Letter 0-0"/>
          <p:cNvSpPr/>
          <p:nvPr/>
        </p:nvSpPr>
        <p:spPr>
          <a:xfrm>
            <a:off x="3749039"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8" name="Letter 0-1"/>
          <p:cNvSpPr/>
          <p:nvPr/>
        </p:nvSpPr>
        <p:spPr>
          <a:xfrm>
            <a:off x="4133087"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9" name="Letter 0-2"/>
          <p:cNvSpPr/>
          <p:nvPr/>
        </p:nvSpPr>
        <p:spPr>
          <a:xfrm>
            <a:off x="4517136"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C</a:t>
            </a:r>
          </a:p>
        </p:txBody>
      </p:sp>
      <p:sp>
        <p:nvSpPr>
          <p:cNvPr id="10" name="Letter 0-3"/>
          <p:cNvSpPr/>
          <p:nvPr/>
        </p:nvSpPr>
        <p:spPr>
          <a:xfrm>
            <a:off x="4901183"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11" name="Letter 0-4"/>
          <p:cNvSpPr/>
          <p:nvPr/>
        </p:nvSpPr>
        <p:spPr>
          <a:xfrm>
            <a:off x="5285231"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C</a:t>
            </a:r>
          </a:p>
        </p:txBody>
      </p:sp>
      <p:sp>
        <p:nvSpPr>
          <p:cNvPr id="12" name="Letter 0-5"/>
          <p:cNvSpPr/>
          <p:nvPr/>
        </p:nvSpPr>
        <p:spPr>
          <a:xfrm>
            <a:off x="5669279"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13" name="Letter 0-6"/>
          <p:cNvSpPr/>
          <p:nvPr/>
        </p:nvSpPr>
        <p:spPr>
          <a:xfrm>
            <a:off x="6053327"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14" name="Letter 0-7"/>
          <p:cNvSpPr/>
          <p:nvPr/>
        </p:nvSpPr>
        <p:spPr>
          <a:xfrm>
            <a:off x="6437375"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15" name="Letter 0-8"/>
          <p:cNvSpPr/>
          <p:nvPr/>
        </p:nvSpPr>
        <p:spPr>
          <a:xfrm>
            <a:off x="6821423"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16" name="Letter 0-9"/>
          <p:cNvSpPr/>
          <p:nvPr/>
        </p:nvSpPr>
        <p:spPr>
          <a:xfrm>
            <a:off x="7205471"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A</a:t>
            </a:r>
          </a:p>
        </p:txBody>
      </p:sp>
      <p:sp>
        <p:nvSpPr>
          <p:cNvPr id="17" name="Letter 0-10"/>
          <p:cNvSpPr/>
          <p:nvPr/>
        </p:nvSpPr>
        <p:spPr>
          <a:xfrm>
            <a:off x="7589520"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18" name="Letter 0-11"/>
          <p:cNvSpPr/>
          <p:nvPr/>
        </p:nvSpPr>
        <p:spPr>
          <a:xfrm>
            <a:off x="7973567"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C</a:t>
            </a:r>
          </a:p>
        </p:txBody>
      </p:sp>
      <p:sp>
        <p:nvSpPr>
          <p:cNvPr id="19" name="Letter 0-12"/>
          <p:cNvSpPr/>
          <p:nvPr/>
        </p:nvSpPr>
        <p:spPr>
          <a:xfrm>
            <a:off x="8357616"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20" name="Letter 0-13"/>
          <p:cNvSpPr/>
          <p:nvPr/>
        </p:nvSpPr>
        <p:spPr>
          <a:xfrm>
            <a:off x="8741663" y="480060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21" name="TextBox 20"/>
          <p:cNvSpPr txBox="1"/>
          <p:nvPr/>
        </p:nvSpPr>
        <p:spPr>
          <a:xfrm>
            <a:off x="548640" y="5349240"/>
            <a:ext cx="3108960" cy="402336"/>
          </a:xfrm>
          <a:prstGeom prst="rect">
            <a:avLst/>
          </a:prstGeom>
          <a:noFill/>
        </p:spPr>
        <p:txBody>
          <a:bodyPr wrap="square" anchor="ctr" lIns="45720" rIns="45720" tIns="27432" bIns="27432">
            <a:spAutoFit/>
          </a:bodyPr>
          <a:lstStyle/>
          <a:p>
            <a:pPr algn="r"/>
            <a:r>
              <a:rPr sz="1600" b="1" i="0">
                <a:solidFill>
                  <a:srgbClr val="002060"/>
                </a:solidFill>
                <a:latin typeface="Bookman Old Style"/>
              </a:rPr>
              <a:t>Patient's virus</a:t>
            </a:r>
          </a:p>
        </p:txBody>
      </p:sp>
      <p:sp>
        <p:nvSpPr>
          <p:cNvPr id="22" name="Letter 1-0"/>
          <p:cNvSpPr/>
          <p:nvPr/>
        </p:nvSpPr>
        <p:spPr>
          <a:xfrm>
            <a:off x="3749039"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23" name="Letter 1-1"/>
          <p:cNvSpPr/>
          <p:nvPr/>
        </p:nvSpPr>
        <p:spPr>
          <a:xfrm>
            <a:off x="4133087"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24" name="Letter 1-2"/>
          <p:cNvSpPr/>
          <p:nvPr/>
        </p:nvSpPr>
        <p:spPr>
          <a:xfrm>
            <a:off x="4517136"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C</a:t>
            </a:r>
          </a:p>
        </p:txBody>
      </p:sp>
      <p:sp>
        <p:nvSpPr>
          <p:cNvPr id="25" name="Letter 1-3"/>
          <p:cNvSpPr/>
          <p:nvPr/>
        </p:nvSpPr>
        <p:spPr>
          <a:xfrm>
            <a:off x="4901183"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26" name="Letter 1-4"/>
          <p:cNvSpPr/>
          <p:nvPr/>
        </p:nvSpPr>
        <p:spPr>
          <a:xfrm>
            <a:off x="5285231"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C</a:t>
            </a:r>
          </a:p>
        </p:txBody>
      </p:sp>
      <p:sp>
        <p:nvSpPr>
          <p:cNvPr id="27" name="Letter 1-5"/>
          <p:cNvSpPr/>
          <p:nvPr/>
        </p:nvSpPr>
        <p:spPr>
          <a:xfrm>
            <a:off x="5669279"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28" name="Letter 1-6"/>
          <p:cNvSpPr/>
          <p:nvPr/>
        </p:nvSpPr>
        <p:spPr>
          <a:xfrm>
            <a:off x="6053327"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29" name="Letter 1-7"/>
          <p:cNvSpPr/>
          <p:nvPr/>
        </p:nvSpPr>
        <p:spPr>
          <a:xfrm>
            <a:off x="6437375" y="5349240"/>
            <a:ext cx="347472" cy="402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FFFFFF"/>
                </a:solidFill>
                <a:latin typeface="Bookman Old Style"/>
              </a:rPr>
              <a:t>C</a:t>
            </a:r>
          </a:p>
        </p:txBody>
      </p:sp>
      <p:sp>
        <p:nvSpPr>
          <p:cNvPr id="30" name="Letter 1-8"/>
          <p:cNvSpPr/>
          <p:nvPr/>
        </p:nvSpPr>
        <p:spPr>
          <a:xfrm>
            <a:off x="6821423"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G</a:t>
            </a:r>
          </a:p>
        </p:txBody>
      </p:sp>
      <p:sp>
        <p:nvSpPr>
          <p:cNvPr id="31" name="Letter 1-9"/>
          <p:cNvSpPr/>
          <p:nvPr/>
        </p:nvSpPr>
        <p:spPr>
          <a:xfrm>
            <a:off x="7205471"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A</a:t>
            </a:r>
          </a:p>
        </p:txBody>
      </p:sp>
      <p:sp>
        <p:nvSpPr>
          <p:cNvPr id="32" name="Letter 1-10"/>
          <p:cNvSpPr/>
          <p:nvPr/>
        </p:nvSpPr>
        <p:spPr>
          <a:xfrm>
            <a:off x="7589520"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33" name="Letter 1-11"/>
          <p:cNvSpPr/>
          <p:nvPr/>
        </p:nvSpPr>
        <p:spPr>
          <a:xfrm>
            <a:off x="7973567"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C</a:t>
            </a:r>
          </a:p>
        </p:txBody>
      </p:sp>
      <p:sp>
        <p:nvSpPr>
          <p:cNvPr id="34" name="Letter 1-12"/>
          <p:cNvSpPr/>
          <p:nvPr/>
        </p:nvSpPr>
        <p:spPr>
          <a:xfrm>
            <a:off x="8357616"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35" name="Letter 1-13"/>
          <p:cNvSpPr/>
          <p:nvPr/>
        </p:nvSpPr>
        <p:spPr>
          <a:xfrm>
            <a:off x="8741663" y="5349240"/>
            <a:ext cx="347472" cy="402336"/>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a:solidFill>
                  <a:srgbClr val="002060"/>
                </a:solidFill>
                <a:latin typeface="Bookman Old Style"/>
              </a:rPr>
              <a:t>T</a:t>
            </a:r>
          </a:p>
        </p:txBody>
      </p:sp>
      <p:sp>
        <p:nvSpPr>
          <p:cNvPr id="36" name="TextBox 35"/>
          <p:cNvSpPr txBox="1"/>
          <p:nvPr/>
        </p:nvSpPr>
        <p:spPr>
          <a:xfrm>
            <a:off x="9262872" y="5074920"/>
            <a:ext cx="2651760" cy="640080"/>
          </a:xfrm>
          <a:prstGeom prst="rect">
            <a:avLst/>
          </a:prstGeom>
          <a:noFill/>
        </p:spPr>
        <p:txBody>
          <a:bodyPr wrap="square" anchor="ctr" lIns="45720" rIns="45720" tIns="27432" bIns="27432">
            <a:spAutoFit/>
          </a:bodyPr>
          <a:lstStyle/>
          <a:p>
            <a:pPr algn="l"/>
            <a:r>
              <a:rPr sz="1600" b="1" i="0">
                <a:solidFill>
                  <a:srgbClr val="C00000"/>
                </a:solidFill>
                <a:latin typeface="Bookman Old Style"/>
              </a:rPr>
              <a:t>1 changed letter = 1 mutation</a:t>
            </a:r>
          </a:p>
        </p:txBody>
      </p:sp>
    </p:spTree>
    <p:extLst>
      <p:ext uri="{BB962C8B-B14F-4D97-AF65-F5344CB8AC3E}">
        <p14:creationId xmlns:p14="http://schemas.microsoft.com/office/powerpoint/2010/main" val="254498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548640" y="1051560"/>
            <a:ext cx="11064240" cy="822960"/>
          </a:xfrm>
        </p:spPr>
        <p:txBody>
          <a:bodyPr wrap="square">
            <a:noAutofit/>
          </a:bodyPr>
          <a:lstStyle/>
          <a:p>
            <a:pPr>
              <a:spcAft>
                <a:spcPts val="800"/>
              </a:spcAft>
            </a:pPr>
            <a:r>
              <a:rPr sz="2000">
                <a:solidFill>
                  <a:srgbClr val="002060"/>
                </a:solidFill>
              </a:rPr>
              <a:t>Tools that do this job today are excellent, but they are built for scale, not for understanding.</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6</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1710268" y="89747"/>
            <a:ext cx="9939866" cy="943186"/>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b="1" dirty="0"/>
              <a:t>Literature Review</a:t>
            </a:r>
          </a:p>
        </p:txBody>
      </p:sp>
      <p:graphicFrame>
        <p:nvGraphicFramePr>
          <p:cNvPr id="6" name="Existing tools table"/>
          <p:cNvGraphicFramePr>
            <a:graphicFrameLocks noGrp="1"/>
          </p:cNvGraphicFramePr>
          <p:nvPr/>
        </p:nvGraphicFramePr>
        <p:xfrm>
          <a:off x="365760" y="1965960"/>
          <a:ext cx="11430000" cy="3749040"/>
        </p:xfrm>
        <a:graphic>
          <a:graphicData uri="http://schemas.openxmlformats.org/drawingml/2006/table">
            <a:tbl>
              <a:tblPr firstRow="1" bandRow="1">
                <a:tableStyleId>{5C22544A-7EE6-4342-B048-85BDC9FD1C3A}</a:tableStyleId>
              </a:tblPr>
              <a:tblGrid>
                <a:gridCol w="2468880"/>
                <a:gridCol w="4663440"/>
                <a:gridCol w="4297680"/>
              </a:tblGrid>
              <a:tr h="749808">
                <a:tc>
                  <a:txBody>
                    <a:bodyPr wrap="square"/>
                    <a:lstStyle/>
                    <a:p>
                      <a:r>
                        <a:rPr sz="1500" b="1">
                          <a:solidFill>
                            <a:srgbClr val="FFFFFF"/>
                          </a:solidFill>
                          <a:latin typeface="Bookman Old Style"/>
                        </a:rPr>
                        <a:t>Tool</a:t>
                      </a:r>
                    </a:p>
                  </a:txBody>
                  <a:tcPr marL="73152" marR="73152" marT="36576" marB="36576" anchor="ctr">
                    <a:solidFill>
                      <a:srgbClr val="002060"/>
                    </a:solidFill>
                  </a:tcPr>
                </a:tc>
                <a:tc>
                  <a:txBody>
                    <a:bodyPr wrap="square"/>
                    <a:lstStyle/>
                    <a:p>
                      <a:r>
                        <a:rPr sz="1500" b="1">
                          <a:solidFill>
                            <a:srgbClr val="FFFFFF"/>
                          </a:solidFill>
                          <a:latin typeface="Bookman Old Style"/>
                        </a:rPr>
                        <a:t>What it does</a:t>
                      </a:r>
                    </a:p>
                  </a:txBody>
                  <a:tcPr marL="73152" marR="73152" marT="36576" marB="36576" anchor="ctr">
                    <a:solidFill>
                      <a:srgbClr val="002060"/>
                    </a:solidFill>
                  </a:tcPr>
                </a:tc>
                <a:tc>
                  <a:txBody>
                    <a:bodyPr wrap="square"/>
                    <a:lstStyle/>
                    <a:p>
                      <a:r>
                        <a:rPr sz="1500" b="1">
                          <a:solidFill>
                            <a:srgbClr val="FFFFFF"/>
                          </a:solidFill>
                          <a:latin typeface="Bookman Old Style"/>
                        </a:rPr>
                        <a:t>Why we are not just using it</a:t>
                      </a:r>
                    </a:p>
                  </a:txBody>
                  <a:tcPr marL="73152" marR="73152" marT="36576" marB="36576" anchor="ctr">
                    <a:solidFill>
                      <a:srgbClr val="002060"/>
                    </a:solidFill>
                  </a:tcPr>
                </a:tc>
              </a:tr>
              <a:tr h="749808">
                <a:tc>
                  <a:txBody>
                    <a:bodyPr wrap="square"/>
                    <a:lstStyle/>
                    <a:p>
                      <a:r>
                        <a:rPr sz="1500" b="1">
                          <a:solidFill>
                            <a:srgbClr val="002060"/>
                          </a:solidFill>
                          <a:latin typeface="Bookman Old Style"/>
                        </a:rPr>
                        <a:t>Minimap2</a:t>
                      </a:r>
                    </a:p>
                  </a:txBody>
                  <a:tcPr marL="73152" marR="73152" marT="36576" marB="36576" anchor="ctr">
                    <a:solidFill>
                      <a:srgbClr val="FFFFFF"/>
                    </a:solidFill>
                  </a:tcPr>
                </a:tc>
                <a:tc>
                  <a:txBody>
                    <a:bodyPr wrap="square"/>
                    <a:lstStyle/>
                    <a:p>
                      <a:r>
                        <a:rPr sz="1500" b="0">
                          <a:solidFill>
                            <a:srgbClr val="002060"/>
                          </a:solidFill>
                          <a:latin typeface="Bookman Old Style"/>
                        </a:rPr>
                        <a:t>Places pieces on the reference using minimizers, the idea we use</a:t>
                      </a:r>
                    </a:p>
                  </a:txBody>
                  <a:tcPr marL="73152" marR="73152" marT="36576" marB="36576" anchor="ctr">
                    <a:solidFill>
                      <a:srgbClr val="FFFFFF"/>
                    </a:solidFill>
                  </a:tcPr>
                </a:tc>
                <a:tc>
                  <a:txBody>
                    <a:bodyPr wrap="square"/>
                    <a:lstStyle/>
                    <a:p>
                      <a:r>
                        <a:rPr sz="1500" b="0">
                          <a:solidFill>
                            <a:srgbClr val="002060"/>
                          </a:solidFill>
                          <a:latin typeface="Bookman Old Style"/>
                        </a:rPr>
                        <a:t>Large, heavily optimised code. Hard to see each step</a:t>
                      </a:r>
                    </a:p>
                  </a:txBody>
                  <a:tcPr marL="73152" marR="73152" marT="36576" marB="36576" anchor="ctr">
                    <a:solidFill>
                      <a:srgbClr val="FFFFFF"/>
                    </a:solidFill>
                  </a:tcPr>
                </a:tc>
              </a:tr>
              <a:tr h="749808">
                <a:tc>
                  <a:txBody>
                    <a:bodyPr wrap="square"/>
                    <a:lstStyle/>
                    <a:p>
                      <a:r>
                        <a:rPr sz="1500" b="1">
                          <a:solidFill>
                            <a:srgbClr val="002060"/>
                          </a:solidFill>
                          <a:latin typeface="Bookman Old Style"/>
                        </a:rPr>
                        <a:t>BWA, Bowtie2</a:t>
                      </a:r>
                    </a:p>
                  </a:txBody>
                  <a:tcPr marL="73152" marR="73152" marT="36576" marB="36576" anchor="ctr">
                    <a:solidFill>
                      <a:srgbClr val="E8ECF5"/>
                    </a:solidFill>
                  </a:tcPr>
                </a:tc>
                <a:tc>
                  <a:txBody>
                    <a:bodyPr wrap="square"/>
                    <a:lstStyle/>
                    <a:p>
                      <a:r>
                        <a:rPr sz="1500" b="0">
                          <a:solidFill>
                            <a:srgbClr val="002060"/>
                          </a:solidFill>
                          <a:latin typeface="Bookman Old Style"/>
                        </a:rPr>
                        <a:t>Place pieces using a compressed index (the FM-index)</a:t>
                      </a:r>
                    </a:p>
                  </a:txBody>
                  <a:tcPr marL="73152" marR="73152" marT="36576" marB="36576" anchor="ctr">
                    <a:solidFill>
                      <a:srgbClr val="E8ECF5"/>
                    </a:solidFill>
                  </a:tcPr>
                </a:tc>
                <a:tc>
                  <a:txBody>
                    <a:bodyPr wrap="square"/>
                    <a:lstStyle/>
                    <a:p>
                      <a:r>
                        <a:rPr sz="1500" b="0">
                          <a:solidFill>
                            <a:srgbClr val="002060"/>
                          </a:solidFill>
                          <a:latin typeface="Bookman Old Style"/>
                        </a:rPr>
                        <a:t>A different structure, complex to build from scratch</a:t>
                      </a:r>
                    </a:p>
                  </a:txBody>
                  <a:tcPr marL="73152" marR="73152" marT="36576" marB="36576" anchor="ctr">
                    <a:solidFill>
                      <a:srgbClr val="E8ECF5"/>
                    </a:solidFill>
                  </a:tcPr>
                </a:tc>
              </a:tr>
              <a:tr h="749808">
                <a:tc>
                  <a:txBody>
                    <a:bodyPr wrap="square"/>
                    <a:lstStyle/>
                    <a:p>
                      <a:r>
                        <a:rPr sz="1500" b="1">
                          <a:solidFill>
                            <a:srgbClr val="002060"/>
                          </a:solidFill>
                          <a:latin typeface="Bookman Old Style"/>
                        </a:rPr>
                        <a:t>GATK, FreeBayes, bcftools</a:t>
                      </a:r>
                    </a:p>
                  </a:txBody>
                  <a:tcPr marL="73152" marR="73152" marT="36576" marB="36576" anchor="ctr">
                    <a:solidFill>
                      <a:srgbClr val="FFFFFF"/>
                    </a:solidFill>
                  </a:tcPr>
                </a:tc>
                <a:tc>
                  <a:txBody>
                    <a:bodyPr wrap="square"/>
                    <a:lstStyle/>
                    <a:p>
                      <a:r>
                        <a:rPr sz="1500" b="0">
                          <a:solidFill>
                            <a:srgbClr val="002060"/>
                          </a:solidFill>
                          <a:latin typeface="Bookman Old Style"/>
                        </a:rPr>
                        <a:t>Find the mutations once the pieces are placed</a:t>
                      </a:r>
                    </a:p>
                  </a:txBody>
                  <a:tcPr marL="73152" marR="73152" marT="36576" marB="36576" anchor="ctr">
                    <a:solidFill>
                      <a:srgbClr val="FFFFFF"/>
                    </a:solidFill>
                  </a:tcPr>
                </a:tc>
                <a:tc>
                  <a:txBody>
                    <a:bodyPr wrap="square"/>
                    <a:lstStyle/>
                    <a:p>
                      <a:r>
                        <a:rPr sz="1500" b="0">
                          <a:solidFill>
                            <a:srgbClr val="002060"/>
                          </a:solidFill>
                          <a:latin typeface="Bookman Old Style"/>
                        </a:rPr>
                        <a:t>Separate tools with heavy statistics and large pipelines</a:t>
                      </a:r>
                    </a:p>
                  </a:txBody>
                  <a:tcPr marL="73152" marR="73152" marT="36576" marB="36576" anchor="ctr">
                    <a:solidFill>
                      <a:srgbClr val="FFFFFF"/>
                    </a:solidFill>
                  </a:tcPr>
                </a:tc>
              </a:tr>
              <a:tr h="749808">
                <a:tc>
                  <a:txBody>
                    <a:bodyPr wrap="square"/>
                    <a:lstStyle/>
                    <a:p>
                      <a:r>
                        <a:rPr sz="1500" b="1">
                          <a:solidFill>
                            <a:srgbClr val="002060"/>
                          </a:solidFill>
                          <a:latin typeface="Bookman Old Style"/>
                        </a:rPr>
                        <a:t>DeepVariant</a:t>
                      </a:r>
                    </a:p>
                  </a:txBody>
                  <a:tcPr marL="73152" marR="73152" marT="36576" marB="36576" anchor="ctr">
                    <a:solidFill>
                      <a:srgbClr val="E8ECF5"/>
                    </a:solidFill>
                  </a:tcPr>
                </a:tc>
                <a:tc>
                  <a:txBody>
                    <a:bodyPr wrap="square"/>
                    <a:lstStyle/>
                    <a:p>
                      <a:r>
                        <a:rPr sz="1500" b="0">
                          <a:solidFill>
                            <a:srgbClr val="002060"/>
                          </a:solidFill>
                          <a:latin typeface="Bookman Old Style"/>
                        </a:rPr>
                        <a:t>Finds mutations using machine learning</a:t>
                      </a:r>
                    </a:p>
                  </a:txBody>
                  <a:tcPr marL="73152" marR="73152" marT="36576" marB="36576" anchor="ctr">
                    <a:solidFill>
                      <a:srgbClr val="E8ECF5"/>
                    </a:solidFill>
                  </a:tcPr>
                </a:tc>
                <a:tc>
                  <a:txBody>
                    <a:bodyPr wrap="square"/>
                    <a:lstStyle/>
                    <a:p>
                      <a:r>
                        <a:rPr sz="1500" b="0">
                          <a:solidFill>
                            <a:srgbClr val="002060"/>
                          </a:solidFill>
                          <a:latin typeface="Bookman Old Style"/>
                        </a:rPr>
                        <a:t>A trained model, so decisions cannot be traced step by step</a:t>
                      </a:r>
                    </a:p>
                  </a:txBody>
                  <a:tcPr marL="73152" marR="73152" marT="36576" marB="36576" anchor="ctr">
                    <a:solidFill>
                      <a:srgbClr val="E8ECF5"/>
                    </a:solidFill>
                  </a:tcPr>
                </a:tc>
              </a:tr>
            </a:tbl>
          </a:graphicData>
        </a:graphic>
      </p:graphicFrame>
    </p:spTree>
    <p:extLst>
      <p:ext uri="{BB962C8B-B14F-4D97-AF65-F5344CB8AC3E}">
        <p14:creationId xmlns:p14="http://schemas.microsoft.com/office/powerpoint/2010/main" val="1435418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9C3DB-A2F1-3E10-332A-B862ACBC7E57}"/>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386E6DA1-EC6E-694F-6A3D-5CC7C13DEC57}"/>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BD27FE52-A578-2133-5964-6D9D8C464601}"/>
              </a:ext>
            </a:extLst>
          </p:cNvPr>
          <p:cNvSpPr>
            <a:spLocks noGrp="1"/>
          </p:cNvSpPr>
          <p:nvPr>
            <p:ph type="sldNum" sz="quarter" idx="12"/>
          </p:nvPr>
        </p:nvSpPr>
        <p:spPr/>
        <p:txBody>
          <a:bodyPr/>
          <a:lstStyle/>
          <a:p>
            <a:fld id="{9BA15CD2-76D6-4EFE-91D9-7087332E3318}" type="slidenum">
              <a:rPr lang="en-IN" smtClean="0"/>
              <a:pPr/>
              <a:t>7</a:t>
            </a:fld>
            <a:endParaRPr lang="en-IN" dirty="0"/>
          </a:p>
        </p:txBody>
      </p:sp>
      <p:sp>
        <p:nvSpPr>
          <p:cNvPr id="5" name="Title 1">
            <a:extLst>
              <a:ext uri="{FF2B5EF4-FFF2-40B4-BE49-F238E27FC236}">
                <a16:creationId xmlns:a16="http://schemas.microsoft.com/office/drawing/2014/main" id="{74B06598-7B0A-3369-021E-1DCD40E12BCB}"/>
              </a:ext>
            </a:extLst>
          </p:cNvPr>
          <p:cNvSpPr txBox="1">
            <a:spLocks/>
          </p:cNvSpPr>
          <p:nvPr/>
        </p:nvSpPr>
        <p:spPr>
          <a:xfrm>
            <a:off x="1710268" y="89747"/>
            <a:ext cx="9939866" cy="943186"/>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b="1" dirty="0"/>
              <a:t>Literature Review</a:t>
            </a:r>
          </a:p>
        </p:txBody>
      </p:sp>
      <p:sp>
        <p:nvSpPr>
          <p:cNvPr id="6" name="Gap card 1"/>
          <p:cNvSpPr/>
          <p:nvPr/>
        </p:nvSpPr>
        <p:spPr>
          <a:xfrm>
            <a:off x="411480" y="1325880"/>
            <a:ext cx="3611880" cy="274320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r>
              <a:rPr sz="2400" b="1">
                <a:solidFill>
                  <a:srgbClr val="002060"/>
                </a:solidFill>
                <a:latin typeface="Bookman Old Style"/>
              </a:rPr>
              <a:t>Too big to read</a:t>
            </a:r>
          </a:p>
          <a:p>
            <a:pPr algn="l"/>
            <a:r>
              <a:rPr sz="800" b="0">
                <a:solidFill>
                  <a:srgbClr val="002060"/>
                </a:solidFill>
                <a:latin typeface="Bookman Old Style"/>
              </a:rPr>
              <a:t> </a:t>
            </a:r>
          </a:p>
          <a:p>
            <a:pPr algn="l"/>
            <a:r>
              <a:rPr sz="1900" b="0">
                <a:solidFill>
                  <a:srgbClr val="002060"/>
                </a:solidFill>
                <a:latin typeface="Bookman Old Style"/>
              </a:rPr>
              <a:t>Production tools are very large code bases. It is hard to learn from them or to trace one decision.</a:t>
            </a:r>
          </a:p>
        </p:txBody>
      </p:sp>
      <p:sp>
        <p:nvSpPr>
          <p:cNvPr id="7" name="Gap card 2"/>
          <p:cNvSpPr/>
          <p:nvPr/>
        </p:nvSpPr>
        <p:spPr>
          <a:xfrm>
            <a:off x="4297680" y="1325880"/>
            <a:ext cx="3611880" cy="274320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r>
              <a:rPr sz="2400" b="1">
                <a:solidFill>
                  <a:srgbClr val="002060"/>
                </a:solidFill>
                <a:latin typeface="Bookman Old Style"/>
              </a:rPr>
              <a:t>Hard to see, rarely measured</a:t>
            </a:r>
          </a:p>
          <a:p>
            <a:pPr algn="l"/>
            <a:r>
              <a:rPr sz="800" b="0">
                <a:solidFill>
                  <a:srgbClr val="002060"/>
                </a:solidFill>
                <a:latin typeface="Bookman Old Style"/>
              </a:rPr>
              <a:t> </a:t>
            </a:r>
          </a:p>
          <a:p>
            <a:pPr algn="l"/>
            <a:r>
              <a:rPr sz="1900" b="0">
                <a:solidFill>
                  <a:srgbClr val="002060"/>
                </a:solidFill>
                <a:latin typeface="Bookman Old Style"/>
              </a:rPr>
              <a:t>It is hard to see which step keeps or loses evidence, and lightweight pipelines are rarely benchmarked in a controlled way.</a:t>
            </a:r>
          </a:p>
        </p:txBody>
      </p:sp>
      <p:sp>
        <p:nvSpPr>
          <p:cNvPr id="8" name="Gap card 3"/>
          <p:cNvSpPr/>
          <p:nvPr/>
        </p:nvSpPr>
        <p:spPr>
          <a:xfrm>
            <a:off x="8183879" y="1325880"/>
            <a:ext cx="3611880" cy="274320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r>
              <a:rPr sz="2400" b="1">
                <a:solidFill>
                  <a:srgbClr val="002060"/>
                </a:solidFill>
                <a:latin typeface="Bookman Old Style"/>
              </a:rPr>
              <a:t>Not always traceable</a:t>
            </a:r>
          </a:p>
          <a:p>
            <a:pPr algn="l"/>
            <a:r>
              <a:rPr sz="800" b="0">
                <a:solidFill>
                  <a:srgbClr val="002060"/>
                </a:solidFill>
                <a:latin typeface="Bookman Old Style"/>
              </a:rPr>
              <a:t> </a:t>
            </a:r>
          </a:p>
          <a:p>
            <a:pPr algn="l"/>
            <a:r>
              <a:rPr sz="1900" b="0">
                <a:solidFill>
                  <a:srgbClr val="002060"/>
                </a:solidFill>
                <a:latin typeface="Bookman Old Style"/>
              </a:rPr>
              <a:t>Some tools use machine learning. Ours uses none: the same input always gives the same output, and every decision can be traced.</a:t>
            </a:r>
          </a:p>
        </p:txBody>
      </p:sp>
      <p:sp>
        <p:nvSpPr>
          <p:cNvPr id="9" name="Our project callout"/>
          <p:cNvSpPr/>
          <p:nvPr/>
        </p:nvSpPr>
        <p:spPr>
          <a:xfrm>
            <a:off x="411480" y="4434840"/>
            <a:ext cx="11384280" cy="1463040"/>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lstStyle/>
          <a:p>
            <a:pPr algn="ctr"/>
            <a:r>
              <a:rPr sz="2300" b="1">
                <a:solidFill>
                  <a:srgbClr val="FFFFFF"/>
                </a:solidFill>
                <a:latin typeface="Bookman Old Style"/>
              </a:rPr>
              <a:t>Our project: a small C tool built from classic data structures, plus a controlled, reproducible benchmark of how it behaves.</a:t>
            </a:r>
          </a:p>
        </p:txBody>
      </p:sp>
    </p:spTree>
    <p:extLst>
      <p:ext uri="{BB962C8B-B14F-4D97-AF65-F5344CB8AC3E}">
        <p14:creationId xmlns:p14="http://schemas.microsoft.com/office/powerpoint/2010/main" val="3067361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B234FB-6F1B-1AB1-B6DB-7C5C79182637}"/>
              </a:ext>
            </a:extLst>
          </p:cNvPr>
          <p:cNvSpPr>
            <a:spLocks noGrp="1"/>
          </p:cNvSpPr>
          <p:nvPr>
            <p:ph idx="1"/>
          </p:nvPr>
        </p:nvSpPr>
        <p:spPr>
          <a:xfrm>
            <a:off x="548640" y="1051560"/>
            <a:ext cx="11064240" cy="3383280"/>
          </a:xfrm>
        </p:spPr>
        <p:txBody>
          <a:bodyPr wrap="square">
            <a:noAutofit/>
          </a:bodyPr>
          <a:lstStyle/>
          <a:p>
            <a:pPr>
              <a:spcAft>
                <a:spcPts val="800"/>
              </a:spcAft>
            </a:pPr>
            <a:r>
              <a:rPr b="1" sz="2000">
                <a:solidFill>
                  <a:srgbClr val="002060"/>
                </a:solidFill>
              </a:rPr>
              <a:t>Problem: </a:t>
            </a:r>
            <a:r>
              <a:rPr sz="2000">
                <a:solidFill>
                  <a:srgbClr val="002060"/>
                </a:solidFill>
              </a:rPr>
              <a:t>We have a known correct virus text and millions of short, shuffled, slightly wrong pieces from a patient's virus. Find where each piece belongs and which letters differ.</a:t>
            </a:r>
          </a:p>
          <a:p>
            <a:pPr>
              <a:spcAft>
                <a:spcPts val="800"/>
              </a:spcAft>
            </a:pPr>
            <a:r>
              <a:rPr b="1" sz="2000">
                <a:solidFill>
                  <a:srgbClr val="002060"/>
                </a:solidFill>
              </a:rPr>
              <a:t>Who it is for: </a:t>
            </a:r>
            <a:r>
              <a:rPr sz="2000">
                <a:solidFill>
                  <a:srgbClr val="002060"/>
                </a:solidFill>
              </a:rPr>
              <a:t>Students, small labs and researchers who want to see, and measure, how mutation finding works. A teaching and research prototype, not a clinical tool.</a:t>
            </a:r>
          </a:p>
          <a:p>
            <a:pPr>
              <a:spcAft>
                <a:spcPts val="800"/>
              </a:spcAft>
            </a:pPr>
            <a:r>
              <a:rPr b="1" sz="2000">
                <a:solidFill>
                  <a:srgbClr val="002060"/>
                </a:solidFill>
              </a:rPr>
              <a:t>Why it matters: </a:t>
            </a:r>
            <a:r>
              <a:rPr sz="2000">
                <a:solidFill>
                  <a:srgbClr val="002060"/>
                </a:solidFill>
              </a:rPr>
              <a:t>Checking every position the slow way is too much work, and typos must not be mistaken for real changes.</a:t>
            </a:r>
          </a:p>
        </p:txBody>
      </p:sp>
      <p:sp>
        <p:nvSpPr>
          <p:cNvPr id="3" name="Date Placeholder 2">
            <a:extLst>
              <a:ext uri="{FF2B5EF4-FFF2-40B4-BE49-F238E27FC236}">
                <a16:creationId xmlns:a16="http://schemas.microsoft.com/office/drawing/2014/main" id="{564AB3A3-E6D2-4AD2-BD4E-F2F546885C1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134DFEBE-E15D-B9A0-A2E5-15D6147FF45F}"/>
              </a:ext>
            </a:extLst>
          </p:cNvPr>
          <p:cNvSpPr>
            <a:spLocks noGrp="1"/>
          </p:cNvSpPr>
          <p:nvPr>
            <p:ph type="sldNum" sz="quarter" idx="12"/>
          </p:nvPr>
        </p:nvSpPr>
        <p:spPr/>
        <p:txBody>
          <a:bodyPr/>
          <a:lstStyle/>
          <a:p>
            <a:fld id="{9BA15CD2-76D6-4EFE-91D9-7087332E3318}" type="slidenum">
              <a:rPr lang="en-IN" smtClean="0"/>
              <a:pPr/>
              <a:t>8</a:t>
            </a:fld>
            <a:endParaRPr lang="en-IN" dirty="0"/>
          </a:p>
        </p:txBody>
      </p:sp>
      <p:sp>
        <p:nvSpPr>
          <p:cNvPr id="5" name="Title 1">
            <a:extLst>
              <a:ext uri="{FF2B5EF4-FFF2-40B4-BE49-F238E27FC236}">
                <a16:creationId xmlns:a16="http://schemas.microsoft.com/office/drawing/2014/main" id="{12F029EF-F97C-2942-1FF3-C4B6DFE8CA0E}"/>
              </a:ext>
            </a:extLst>
          </p:cNvPr>
          <p:cNvSpPr txBox="1">
            <a:spLocks/>
          </p:cNvSpPr>
          <p:nvPr/>
        </p:nvSpPr>
        <p:spPr>
          <a:xfrm>
            <a:off x="1503705" y="0"/>
            <a:ext cx="10227733" cy="1076325"/>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600" dirty="0"/>
              <a:t>Problem Definition</a:t>
            </a:r>
            <a:endParaRPr lang="en-IN" sz="3600" dirty="0"/>
          </a:p>
        </p:txBody>
      </p:sp>
      <p:sp>
        <p:nvSpPr>
          <p:cNvPr id="6" name="Stat 1"/>
          <p:cNvSpPr/>
          <p:nvPr/>
        </p:nvSpPr>
        <p:spPr>
          <a:xfrm>
            <a:off x="411480" y="4526280"/>
            <a:ext cx="3611880" cy="160020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3200" b="1">
                <a:solidFill>
                  <a:srgbClr val="C00000"/>
                </a:solidFill>
                <a:latin typeface="Bookman Old Style"/>
              </a:rPr>
              <a:t>6,000,000</a:t>
            </a:r>
          </a:p>
          <a:p>
            <a:pPr algn="ctr"/>
            <a:r>
              <a:rPr sz="1400" b="0">
                <a:solidFill>
                  <a:srgbClr val="002060"/>
                </a:solidFill>
                <a:latin typeface="Bookman Old Style"/>
              </a:rPr>
              <a:t>letter comparisons to place just one 200-letter piece the slow way</a:t>
            </a:r>
          </a:p>
        </p:txBody>
      </p:sp>
      <p:sp>
        <p:nvSpPr>
          <p:cNvPr id="7" name="Stat 2"/>
          <p:cNvSpPr/>
          <p:nvPr/>
        </p:nvSpPr>
        <p:spPr>
          <a:xfrm>
            <a:off x="4297680" y="4526280"/>
            <a:ext cx="3611880" cy="160020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3200" b="1">
                <a:solidFill>
                  <a:srgbClr val="C00000"/>
                </a:solidFill>
                <a:latin typeface="Bookman Old Style"/>
              </a:rPr>
              <a:t>millions</a:t>
            </a:r>
          </a:p>
          <a:p>
            <a:pPr algn="ctr"/>
            <a:r>
              <a:rPr sz="1400" b="0">
                <a:solidFill>
                  <a:srgbClr val="002060"/>
                </a:solidFill>
                <a:latin typeface="Bookman Old Style"/>
              </a:rPr>
              <a:t>of pieces in a single patient sample</a:t>
            </a:r>
          </a:p>
        </p:txBody>
      </p:sp>
      <p:sp>
        <p:nvSpPr>
          <p:cNvPr id="8" name="Stat 3"/>
          <p:cNvSpPr/>
          <p:nvPr/>
        </p:nvSpPr>
        <p:spPr>
          <a:xfrm>
            <a:off x="8183879" y="4526280"/>
            <a:ext cx="3611880" cy="160020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3200" b="1">
                <a:solidFill>
                  <a:srgbClr val="C00000"/>
                </a:solidFill>
                <a:latin typeface="Bookman Old Style"/>
              </a:rPr>
              <a:t>up to 1%</a:t>
            </a:r>
          </a:p>
          <a:p>
            <a:pPr algn="ctr"/>
            <a:r>
              <a:rPr sz="1400" b="0">
                <a:solidFill>
                  <a:srgbClr val="002060"/>
                </a:solidFill>
                <a:latin typeface="Bookman Old Style"/>
              </a:rPr>
              <a:t>of letters in a piece can be machine typos</a:t>
            </a:r>
          </a:p>
        </p:txBody>
      </p:sp>
    </p:spTree>
    <p:extLst>
      <p:ext uri="{BB962C8B-B14F-4D97-AF65-F5344CB8AC3E}">
        <p14:creationId xmlns:p14="http://schemas.microsoft.com/office/powerpoint/2010/main" val="181271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548640" y="1051560"/>
            <a:ext cx="11064240" cy="1325880"/>
          </a:xfrm>
        </p:spPr>
        <p:txBody>
          <a:bodyPr wrap="square">
            <a:noAutofit/>
          </a:bodyPr>
          <a:lstStyle/>
          <a:p>
            <a:pPr>
              <a:spcAft>
                <a:spcPts val="800"/>
              </a:spcAft>
              <a:buFont typeface="Arial" panose="020B0604020202020204" pitchFamily="34" charset="0"/>
              <a:buChar char="•"/>
            </a:pPr>
            <a:r>
              <a:rPr b="1" sz="2000">
                <a:solidFill>
                  <a:srgbClr val="002060"/>
                </a:solidFill>
              </a:rPr>
              <a:t>Main Objective: </a:t>
            </a:r>
            <a:r>
              <a:rPr sz="2000">
                <a:solidFill>
                  <a:srgbClr val="002060"/>
                </a:solidFill>
              </a:rPr>
              <a:t>Build, in C, a mutation finder from classic data structures (no machine learning), and benchmark it in a reproducible study that leads to a research paper.</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9</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191229" y="0"/>
            <a:ext cx="8146571" cy="103293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Objectives</a:t>
            </a:r>
          </a:p>
        </p:txBody>
      </p:sp>
      <p:sp>
        <p:nvSpPr>
          <p:cNvPr id="6" name="TextBox 5"/>
          <p:cNvSpPr txBox="1"/>
          <p:nvPr/>
        </p:nvSpPr>
        <p:spPr>
          <a:xfrm>
            <a:off x="548640" y="2377440"/>
            <a:ext cx="5486400" cy="365760"/>
          </a:xfrm>
          <a:prstGeom prst="rect">
            <a:avLst/>
          </a:prstGeom>
          <a:noFill/>
        </p:spPr>
        <p:txBody>
          <a:bodyPr wrap="square" anchor="t" lIns="45720" rIns="45720" tIns="27432" bIns="27432">
            <a:spAutoFit/>
          </a:bodyPr>
          <a:lstStyle/>
          <a:p>
            <a:pPr algn="l"/>
            <a:r>
              <a:rPr sz="2000" b="1" i="0">
                <a:solidFill>
                  <a:srgbClr val="002060"/>
                </a:solidFill>
                <a:latin typeface="Bookman Old Style"/>
              </a:rPr>
              <a:t>Specific Objectives</a:t>
            </a:r>
          </a:p>
        </p:txBody>
      </p:sp>
      <p:sp>
        <p:nvSpPr>
          <p:cNvPr id="7" name="Objective 1"/>
          <p:cNvSpPr/>
          <p:nvPr/>
        </p:nvSpPr>
        <p:spPr>
          <a:xfrm>
            <a:off x="411480" y="2834640"/>
            <a:ext cx="2697480" cy="17830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lstStyle/>
          <a:p>
            <a:pPr algn="l"/>
            <a:r>
              <a:rPr sz="2800" b="1">
                <a:solidFill>
                  <a:srgbClr val="C00000"/>
                </a:solidFill>
                <a:latin typeface="Bookman Old Style"/>
              </a:rPr>
              <a:t>1</a:t>
            </a:r>
          </a:p>
          <a:p>
            <a:pPr algn="l"/>
            <a:r>
              <a:rPr sz="1600" b="0">
                <a:solidFill>
                  <a:srgbClr val="002060"/>
                </a:solidFill>
                <a:latin typeface="Bookman Old Style"/>
              </a:rPr>
              <a:t>Place each piece quickly using an index instead of scanning everything</a:t>
            </a:r>
          </a:p>
        </p:txBody>
      </p:sp>
      <p:sp>
        <p:nvSpPr>
          <p:cNvPr id="8" name="Objective 2"/>
          <p:cNvSpPr/>
          <p:nvPr/>
        </p:nvSpPr>
        <p:spPr>
          <a:xfrm>
            <a:off x="3310128" y="2834640"/>
            <a:ext cx="2697480" cy="17830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lstStyle/>
          <a:p>
            <a:pPr algn="l"/>
            <a:r>
              <a:rPr sz="2800" b="1">
                <a:solidFill>
                  <a:srgbClr val="C00000"/>
                </a:solidFill>
                <a:latin typeface="Bookman Old Style"/>
              </a:rPr>
              <a:t>2</a:t>
            </a:r>
          </a:p>
          <a:p>
            <a:pPr algn="l"/>
            <a:r>
              <a:rPr sz="1600" b="0">
                <a:solidFill>
                  <a:srgbClr val="002060"/>
                </a:solidFill>
                <a:latin typeface="Bookman Old Style"/>
              </a:rPr>
              <a:t>Tell real changes from typos: a BST counts the votes, then pieces vote on each letter</a:t>
            </a:r>
          </a:p>
        </p:txBody>
      </p:sp>
      <p:sp>
        <p:nvSpPr>
          <p:cNvPr id="9" name="Objective 3"/>
          <p:cNvSpPr/>
          <p:nvPr/>
        </p:nvSpPr>
        <p:spPr>
          <a:xfrm>
            <a:off x="6208776" y="2834640"/>
            <a:ext cx="2697480" cy="17830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lstStyle/>
          <a:p>
            <a:pPr algn="l"/>
            <a:r>
              <a:rPr sz="2800" b="1">
                <a:solidFill>
                  <a:srgbClr val="C00000"/>
                </a:solidFill>
                <a:latin typeface="Bookman Old Style"/>
              </a:rPr>
              <a:t>3</a:t>
            </a:r>
          </a:p>
          <a:p>
            <a:pPr algn="l"/>
            <a:r>
              <a:rPr sz="1600" b="0">
                <a:solidFill>
                  <a:srgbClr val="002060"/>
                </a:solidFill>
                <a:latin typeface="Bookman Old Style"/>
              </a:rPr>
              <a:t>Benchmark accuracy, speed and memory across typo rates and settings</a:t>
            </a:r>
          </a:p>
        </p:txBody>
      </p:sp>
      <p:sp>
        <p:nvSpPr>
          <p:cNvPr id="10" name="Objective 4"/>
          <p:cNvSpPr/>
          <p:nvPr/>
        </p:nvSpPr>
        <p:spPr>
          <a:xfrm>
            <a:off x="9107424" y="2834640"/>
            <a:ext cx="2697480" cy="17830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lstStyle/>
          <a:p>
            <a:pPr algn="l"/>
            <a:r>
              <a:rPr sz="2800" b="1">
                <a:solidFill>
                  <a:srgbClr val="C00000"/>
                </a:solidFill>
                <a:latin typeface="Bookman Old Style"/>
              </a:rPr>
              <a:t>4</a:t>
            </a:r>
          </a:p>
          <a:p>
            <a:pPr algn="l"/>
            <a:r>
              <a:rPr sz="1600" b="0">
                <a:solidFill>
                  <a:srgbClr val="002060"/>
                </a:solidFill>
                <a:latin typeface="Bookman Old Style"/>
              </a:rPr>
              <a:t>Find which stage loses accuracy first, and write it up as a research paper</a:t>
            </a:r>
          </a:p>
        </p:txBody>
      </p:sp>
      <p:sp>
        <p:nvSpPr>
          <p:cNvPr id="11" name="TextBox 10"/>
          <p:cNvSpPr txBox="1"/>
          <p:nvPr/>
        </p:nvSpPr>
        <p:spPr>
          <a:xfrm>
            <a:off x="548640" y="4892040"/>
            <a:ext cx="11064240" cy="1097280"/>
          </a:xfrm>
          <a:prstGeom prst="rect">
            <a:avLst/>
          </a:prstGeom>
          <a:noFill/>
        </p:spPr>
        <p:txBody>
          <a:bodyPr wrap="square" anchor="t" lIns="45720" rIns="45720" tIns="27432" bIns="27432">
            <a:spAutoFit/>
          </a:bodyPr>
          <a:lstStyle/>
          <a:p>
            <a:pPr algn="l"/>
            <a:r>
              <a:rPr b="1" sz="1800">
                <a:solidFill>
                  <a:srgbClr val="002060"/>
                </a:solidFill>
                <a:latin typeface="Bookman Old Style"/>
              </a:rPr>
              <a:t>Expected Contributions: </a:t>
            </a:r>
            <a:r>
              <a:rPr sz="1800">
                <a:solidFill>
                  <a:srgbClr val="002060"/>
                </a:solidFill>
                <a:latin typeface="Bookman Old Style"/>
              </a:rPr>
              <a:t>a reproducible benchmark, a small transparent C implementation, and a research paper (draft by the end of the semester, full paper after).</a:t>
            </a:r>
          </a:p>
        </p:txBody>
      </p:sp>
    </p:spTree>
    <p:extLst>
      <p:ext uri="{BB962C8B-B14F-4D97-AF65-F5344CB8AC3E}">
        <p14:creationId xmlns:p14="http://schemas.microsoft.com/office/powerpoint/2010/main" val="255186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548640" y="1005840"/>
            <a:ext cx="11064240" cy="3566160"/>
          </a:xfrm>
        </p:spPr>
        <p:txBody>
          <a:bodyPr wrap="square">
            <a:noAutofit/>
          </a:bodyPr>
          <a:lstStyle/>
          <a:p>
            <a:pPr>
              <a:spcAft>
                <a:spcPts val="500"/>
              </a:spcAft>
              <a:buFont typeface="Arial" panose="020B0604020202020204" pitchFamily="34" charset="0"/>
              <a:buChar char="•"/>
            </a:pPr>
            <a:r>
              <a:rPr b="1" sz="1800">
                <a:solidFill>
                  <a:srgbClr val="002060"/>
                </a:solidFill>
              </a:rPr>
              <a:t>Design: </a:t>
            </a:r>
            <a:r>
              <a:rPr sz="1800">
                <a:solidFill>
                  <a:srgbClr val="002060"/>
                </a:solidFill>
              </a:rPr>
              <a:t>A 9-stage pipeline in C (hash table, BST, heap and more), then a controlled benchmark of how it performs.</a:t>
            </a:r>
          </a:p>
          <a:p>
            <a:pPr>
              <a:spcAft>
                <a:spcPts val="500"/>
              </a:spcAft>
            </a:pPr>
            <a:r>
              <a:rPr b="1" sz="1800">
                <a:solidFill>
                  <a:srgbClr val="002060"/>
                </a:solidFill>
              </a:rPr>
              <a:t>Datasets: </a:t>
            </a:r>
            <a:r>
              <a:rPr sz="1800">
                <a:solidFill>
                  <a:srgbClr val="002060"/>
                </a:solidFill>
              </a:rPr>
              <a:t>Reference: the SARS-CoV-2 genome from NCBI (RefSeq NC_045512.2, about 30,000 letters). Pieces: generated by our own program, with planted changes and typos, so the right answers are known.</a:t>
            </a:r>
          </a:p>
          <a:p>
            <a:pPr>
              <a:spcAft>
                <a:spcPts val="500"/>
              </a:spcAft>
            </a:pPr>
            <a:r>
              <a:rPr b="1" sz="1800">
                <a:solidFill>
                  <a:srgbClr val="002060"/>
                </a:solidFill>
              </a:rPr>
              <a:t>Experiments: </a:t>
            </a:r>
            <a:r>
              <a:rPr sz="1800">
                <a:solidFill>
                  <a:srgbClr val="002060"/>
                </a:solidFill>
              </a:rPr>
              <a:t>Typo rates from 0 to 2% with 10 random seeds, plus word size, window size and vote strictness. Measured: precision, recall, time and memory, against a naive scan.</a:t>
            </a:r>
          </a:p>
          <a:p>
            <a:pPr>
              <a:spcAft>
                <a:spcPts val="500"/>
              </a:spcAft>
            </a:pPr>
            <a:r>
              <a:rPr b="1" sz="1800">
                <a:solidFill>
                  <a:srgbClr val="002060"/>
                </a:solidFill>
              </a:rPr>
              <a:t>Tools: </a:t>
            </a:r>
            <a:r>
              <a:rPr sz="1800">
                <a:solidFill>
                  <a:srgbClr val="002060"/>
                </a:solidFill>
              </a:rPr>
              <a:t>C (gcc) for the core and the experiment runner, and an interactive web visualiser for the demo.</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10</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Methodology</a:t>
            </a:r>
          </a:p>
        </p:txBody>
      </p:sp>
      <p:sp>
        <p:nvSpPr>
          <p:cNvPr id="6" name="Data flow 1"/>
          <p:cNvSpPr/>
          <p:nvPr/>
        </p:nvSpPr>
        <p:spPr>
          <a:xfrm>
            <a:off x="502920" y="4846320"/>
            <a:ext cx="3200400" cy="1234440"/>
          </a:xfrm>
          <a:prstGeom prst="roundRect">
            <a:avLst>
              <a:gd name="adj" fmla="val 8000"/>
            </a:avLst>
          </a:prstGeom>
          <a:solidFill>
            <a:srgbClr val="E8ECF5"/>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1700" b="1">
                <a:solidFill>
                  <a:srgbClr val="002060"/>
                </a:solidFill>
                <a:latin typeface="Bookman Old Style"/>
              </a:rPr>
              <a:t>Reference genome</a:t>
            </a:r>
          </a:p>
          <a:p>
            <a:pPr algn="ctr"/>
            <a:r>
              <a:rPr sz="1300" b="0">
                <a:solidFill>
                  <a:srgbClr val="002060"/>
                </a:solidFill>
                <a:latin typeface="Bookman Old Style"/>
              </a:rPr>
              <a:t>from NCBI, about 30,000 letters</a:t>
            </a:r>
          </a:p>
        </p:txBody>
      </p:sp>
      <p:sp>
        <p:nvSpPr>
          <p:cNvPr id="7" name="Right Arrow 6"/>
          <p:cNvSpPr/>
          <p:nvPr/>
        </p:nvSpPr>
        <p:spPr>
          <a:xfrm>
            <a:off x="3794760" y="5303520"/>
            <a:ext cx="502920" cy="310896"/>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ata flow 2"/>
          <p:cNvSpPr/>
          <p:nvPr/>
        </p:nvSpPr>
        <p:spPr>
          <a:xfrm>
            <a:off x="4434840" y="4846320"/>
            <a:ext cx="3200400" cy="1234440"/>
          </a:xfrm>
          <a:prstGeom prst="roundRect">
            <a:avLst>
              <a:gd name="adj" fmla="val 8000"/>
            </a:avLst>
          </a:prstGeom>
          <a:solidFill>
            <a:srgbClr val="E8ECF5"/>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1700" b="1">
                <a:solidFill>
                  <a:srgbClr val="002060"/>
                </a:solidFill>
                <a:latin typeface="Bookman Old Style"/>
              </a:rPr>
              <a:t>Our generator</a:t>
            </a:r>
          </a:p>
          <a:p>
            <a:pPr algn="ctr"/>
            <a:r>
              <a:rPr sz="1300" b="0">
                <a:solidFill>
                  <a:srgbClr val="002060"/>
                </a:solidFill>
                <a:latin typeface="Bookman Old Style"/>
              </a:rPr>
              <a:t>plants changes, adds typos, cuts into pieces</a:t>
            </a:r>
          </a:p>
        </p:txBody>
      </p:sp>
      <p:sp>
        <p:nvSpPr>
          <p:cNvPr id="9" name="Right Arrow 8"/>
          <p:cNvSpPr/>
          <p:nvPr/>
        </p:nvSpPr>
        <p:spPr>
          <a:xfrm>
            <a:off x="7726679" y="5303520"/>
            <a:ext cx="502920" cy="310896"/>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ata flow 3"/>
          <p:cNvSpPr/>
          <p:nvPr/>
        </p:nvSpPr>
        <p:spPr>
          <a:xfrm>
            <a:off x="8366760" y="4846320"/>
            <a:ext cx="3200400" cy="1234440"/>
          </a:xfrm>
          <a:prstGeom prst="roundRect">
            <a:avLst>
              <a:gd name="adj" fmla="val 8000"/>
            </a:avLst>
          </a:prstGeom>
          <a:solidFill>
            <a:srgbClr val="E8ECF5"/>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1700" b="1">
                <a:solidFill>
                  <a:srgbClr val="002060"/>
                </a:solidFill>
                <a:latin typeface="Bookman Old Style"/>
              </a:rPr>
              <a:t>Test data</a:t>
            </a:r>
          </a:p>
          <a:p>
            <a:pPr algn="ctr"/>
            <a:r>
              <a:rPr sz="1300" b="0">
                <a:solidFill>
                  <a:srgbClr val="002060"/>
                </a:solidFill>
                <a:latin typeface="Bookman Old Style"/>
              </a:rPr>
              <a:t>short pieces + answer key</a:t>
            </a:r>
          </a:p>
        </p:txBody>
      </p:sp>
    </p:spTree>
    <p:extLst>
      <p:ext uri="{BB962C8B-B14F-4D97-AF65-F5344CB8AC3E}">
        <p14:creationId xmlns:p14="http://schemas.microsoft.com/office/powerpoint/2010/main" val="356307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11</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0"/>
            <a:ext cx="8146571"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Methodology: Pipeline</a:t>
            </a:r>
          </a:p>
        </p:txBody>
      </p:sp>
      <p:sp>
        <p:nvSpPr>
          <p:cNvPr id="6" name="Lane 1"/>
          <p:cNvSpPr/>
          <p:nvPr/>
        </p:nvSpPr>
        <p:spPr>
          <a:xfrm>
            <a:off x="320040" y="1051560"/>
            <a:ext cx="11548872" cy="13258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ane 1 label"/>
          <p:cNvSpPr/>
          <p:nvPr/>
        </p:nvSpPr>
        <p:spPr>
          <a:xfrm>
            <a:off x="411480" y="1161288"/>
            <a:ext cx="2011680" cy="1106424"/>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Bookman Old Style"/>
              </a:rPr>
              <a:t>A. Prepare the reference</a:t>
            </a:r>
          </a:p>
          <a:p>
            <a:pPr algn="ctr"/>
            <a:r>
              <a:rPr sz="1200" b="0">
                <a:solidFill>
                  <a:srgbClr val="FFFFFF"/>
                </a:solidFill>
                <a:latin typeface="Bookman Old Style"/>
              </a:rPr>
              <a:t>run once</a:t>
            </a:r>
          </a:p>
        </p:txBody>
      </p:sp>
      <p:sp>
        <p:nvSpPr>
          <p:cNvPr id="8" name="Stage 1 Load"/>
          <p:cNvSpPr/>
          <p:nvPr/>
        </p:nvSpPr>
        <p:spPr>
          <a:xfrm>
            <a:off x="2606040" y="1234439"/>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1 Load</a:t>
            </a:r>
          </a:p>
          <a:p>
            <a:pPr algn="ctr"/>
            <a:r>
              <a:rPr sz="1200" b="0">
                <a:solidFill>
                  <a:srgbClr val="002060"/>
                </a:solidFill>
                <a:latin typeface="Bookman Old Style"/>
              </a:rPr>
              <a:t>pack the letters</a:t>
            </a:r>
          </a:p>
        </p:txBody>
      </p:sp>
      <p:sp>
        <p:nvSpPr>
          <p:cNvPr id="9" name="Right Arrow 8"/>
          <p:cNvSpPr/>
          <p:nvPr/>
        </p:nvSpPr>
        <p:spPr>
          <a:xfrm>
            <a:off x="4197096" y="160020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ge 2 Pick words"/>
          <p:cNvSpPr/>
          <p:nvPr/>
        </p:nvSpPr>
        <p:spPr>
          <a:xfrm>
            <a:off x="4503420" y="1234439"/>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2 Pick words</a:t>
            </a:r>
          </a:p>
          <a:p>
            <a:pPr algn="ctr"/>
            <a:r>
              <a:rPr sz="1200" b="0">
                <a:solidFill>
                  <a:srgbClr val="002060"/>
                </a:solidFill>
                <a:latin typeface="Bookman Old Style"/>
              </a:rPr>
              <a:t>keep a few words</a:t>
            </a:r>
          </a:p>
        </p:txBody>
      </p:sp>
      <p:sp>
        <p:nvSpPr>
          <p:cNvPr id="11" name="Right Arrow 10"/>
          <p:cNvSpPr/>
          <p:nvPr/>
        </p:nvSpPr>
        <p:spPr>
          <a:xfrm>
            <a:off x="6094476" y="160020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3 Index"/>
          <p:cNvSpPr/>
          <p:nvPr/>
        </p:nvSpPr>
        <p:spPr>
          <a:xfrm>
            <a:off x="6400800" y="1234439"/>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3 Index</a:t>
            </a:r>
          </a:p>
          <a:p>
            <a:pPr algn="ctr"/>
            <a:r>
              <a:rPr sz="1200" b="0">
                <a:solidFill>
                  <a:srgbClr val="002060"/>
                </a:solidFill>
                <a:latin typeface="Bookman Old Style"/>
              </a:rPr>
              <a:t>word to positions</a:t>
            </a:r>
          </a:p>
        </p:txBody>
      </p:sp>
      <p:sp>
        <p:nvSpPr>
          <p:cNvPr id="13" name="Right Arrow 12"/>
          <p:cNvSpPr/>
          <p:nvPr/>
        </p:nvSpPr>
        <p:spPr>
          <a:xfrm>
            <a:off x="7991856" y="160020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ge 4 Pre-check"/>
          <p:cNvSpPr/>
          <p:nvPr/>
        </p:nvSpPr>
        <p:spPr>
          <a:xfrm>
            <a:off x="8298180" y="1234439"/>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4 Pre-check</a:t>
            </a:r>
          </a:p>
          <a:p>
            <a:pPr algn="ctr"/>
            <a:r>
              <a:rPr sz="1200" b="0">
                <a:solidFill>
                  <a:srgbClr val="002060"/>
                </a:solidFill>
                <a:latin typeface="Bookman Old Style"/>
              </a:rPr>
              <a:t>quick yes / no list</a:t>
            </a:r>
          </a:p>
        </p:txBody>
      </p:sp>
      <p:sp>
        <p:nvSpPr>
          <p:cNvPr id="15" name="Down Arrow 14"/>
          <p:cNvSpPr/>
          <p:nvPr/>
        </p:nvSpPr>
        <p:spPr>
          <a:xfrm>
            <a:off x="1280160" y="2386584"/>
            <a:ext cx="365760" cy="393192"/>
          </a:xfrm>
          <a:prstGeom prst="down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ne 2"/>
          <p:cNvSpPr/>
          <p:nvPr/>
        </p:nvSpPr>
        <p:spPr>
          <a:xfrm>
            <a:off x="320040" y="2788920"/>
            <a:ext cx="11548872" cy="13258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ne 2 label"/>
          <p:cNvSpPr/>
          <p:nvPr/>
        </p:nvSpPr>
        <p:spPr>
          <a:xfrm>
            <a:off x="411480" y="2898648"/>
            <a:ext cx="2011680" cy="1106424"/>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Bookman Old Style"/>
              </a:rPr>
              <a:t>B. Place each piece</a:t>
            </a:r>
          </a:p>
          <a:p>
            <a:pPr algn="ctr"/>
            <a:r>
              <a:rPr sz="1200" b="0">
                <a:solidFill>
                  <a:srgbClr val="FFFFFF"/>
                </a:solidFill>
                <a:latin typeface="Bookman Old Style"/>
              </a:rPr>
              <a:t>repeat for every piece</a:t>
            </a:r>
          </a:p>
        </p:txBody>
      </p:sp>
      <p:sp>
        <p:nvSpPr>
          <p:cNvPr id="18" name="Stage 2 Pick words"/>
          <p:cNvSpPr/>
          <p:nvPr/>
        </p:nvSpPr>
        <p:spPr>
          <a:xfrm>
            <a:off x="2606040" y="2971800"/>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2 Pick words</a:t>
            </a:r>
          </a:p>
          <a:p>
            <a:pPr algn="ctr"/>
            <a:r>
              <a:rPr sz="1200" b="0">
                <a:solidFill>
                  <a:srgbClr val="002060"/>
                </a:solidFill>
                <a:latin typeface="Bookman Old Style"/>
              </a:rPr>
              <a:t>same rule on the piece</a:t>
            </a:r>
          </a:p>
        </p:txBody>
      </p:sp>
      <p:sp>
        <p:nvSpPr>
          <p:cNvPr id="19" name="Right Arrow 18"/>
          <p:cNvSpPr/>
          <p:nvPr/>
        </p:nvSpPr>
        <p:spPr>
          <a:xfrm>
            <a:off x="4197096" y="333756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4 Pre-check"/>
          <p:cNvSpPr/>
          <p:nvPr/>
        </p:nvSpPr>
        <p:spPr>
          <a:xfrm>
            <a:off x="4503420" y="2971800"/>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4 Pre-check</a:t>
            </a:r>
          </a:p>
          <a:p>
            <a:pPr algn="ctr"/>
            <a:r>
              <a:rPr sz="1200" b="0">
                <a:solidFill>
                  <a:srgbClr val="002060"/>
                </a:solidFill>
                <a:latin typeface="Bookman Old Style"/>
              </a:rPr>
              <a:t>skip impossible words</a:t>
            </a:r>
          </a:p>
        </p:txBody>
      </p:sp>
      <p:sp>
        <p:nvSpPr>
          <p:cNvPr id="21" name="Right Arrow 20"/>
          <p:cNvSpPr/>
          <p:nvPr/>
        </p:nvSpPr>
        <p:spPr>
          <a:xfrm>
            <a:off x="6094476" y="333756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age 5 Vote"/>
          <p:cNvSpPr/>
          <p:nvPr/>
        </p:nvSpPr>
        <p:spPr>
          <a:xfrm>
            <a:off x="6400800" y="2971800"/>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5 Vote</a:t>
            </a:r>
          </a:p>
          <a:p>
            <a:pPr algn="ctr"/>
            <a:r>
              <a:rPr sz="1200" b="0">
                <a:solidFill>
                  <a:srgbClr val="002060"/>
                </a:solidFill>
                <a:latin typeface="Bookman Old Style"/>
              </a:rPr>
              <a:t>count starts in a BST</a:t>
            </a:r>
          </a:p>
        </p:txBody>
      </p:sp>
      <p:sp>
        <p:nvSpPr>
          <p:cNvPr id="23" name="Right Arrow 22"/>
          <p:cNvSpPr/>
          <p:nvPr/>
        </p:nvSpPr>
        <p:spPr>
          <a:xfrm>
            <a:off x="7991856" y="333756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age 6 Short-list"/>
          <p:cNvSpPr/>
          <p:nvPr/>
        </p:nvSpPr>
        <p:spPr>
          <a:xfrm>
            <a:off x="8298180" y="2971800"/>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6 Short-list</a:t>
            </a:r>
          </a:p>
          <a:p>
            <a:pPr algn="ctr"/>
            <a:r>
              <a:rPr sz="1200" b="0">
                <a:solidFill>
                  <a:srgbClr val="002060"/>
                </a:solidFill>
                <a:latin typeface="Bookman Old Style"/>
              </a:rPr>
              <a:t>keep the best 3</a:t>
            </a:r>
          </a:p>
        </p:txBody>
      </p:sp>
      <p:sp>
        <p:nvSpPr>
          <p:cNvPr id="25" name="Right Arrow 24"/>
          <p:cNvSpPr/>
          <p:nvPr/>
        </p:nvSpPr>
        <p:spPr>
          <a:xfrm>
            <a:off x="9889236" y="333756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ge 7 Verify"/>
          <p:cNvSpPr/>
          <p:nvPr/>
        </p:nvSpPr>
        <p:spPr>
          <a:xfrm>
            <a:off x="10195560" y="2971800"/>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7 Verify</a:t>
            </a:r>
          </a:p>
          <a:p>
            <a:pPr algn="ctr"/>
            <a:r>
              <a:rPr sz="1200" b="0">
                <a:solidFill>
                  <a:srgbClr val="002060"/>
                </a:solidFill>
                <a:latin typeface="Bookman Old Style"/>
              </a:rPr>
              <a:t>compare the letters</a:t>
            </a:r>
          </a:p>
        </p:txBody>
      </p:sp>
      <p:sp>
        <p:nvSpPr>
          <p:cNvPr id="27" name="Down Arrow 26"/>
          <p:cNvSpPr/>
          <p:nvPr/>
        </p:nvSpPr>
        <p:spPr>
          <a:xfrm>
            <a:off x="1280160" y="4123944"/>
            <a:ext cx="365760" cy="393192"/>
          </a:xfrm>
          <a:prstGeom prst="down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ane 3"/>
          <p:cNvSpPr/>
          <p:nvPr/>
        </p:nvSpPr>
        <p:spPr>
          <a:xfrm>
            <a:off x="320040" y="4526280"/>
            <a:ext cx="11548872" cy="13258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ane 3 label"/>
          <p:cNvSpPr/>
          <p:nvPr/>
        </p:nvSpPr>
        <p:spPr>
          <a:xfrm>
            <a:off x="411480" y="4636008"/>
            <a:ext cx="2011680" cy="1106424"/>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Bookman Old Style"/>
              </a:rPr>
              <a:t>C. Combine all pieces</a:t>
            </a:r>
          </a:p>
          <a:p>
            <a:pPr algn="ctr"/>
            <a:r>
              <a:rPr sz="1200" b="0">
                <a:solidFill>
                  <a:srgbClr val="FFFFFF"/>
                </a:solidFill>
                <a:latin typeface="Bookman Old Style"/>
              </a:rPr>
              <a:t>run once at the end</a:t>
            </a:r>
          </a:p>
        </p:txBody>
      </p:sp>
      <p:sp>
        <p:nvSpPr>
          <p:cNvPr id="30" name="Stage 8 Pile up"/>
          <p:cNvSpPr/>
          <p:nvPr/>
        </p:nvSpPr>
        <p:spPr>
          <a:xfrm>
            <a:off x="2606040" y="4709160"/>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8 Pile up</a:t>
            </a:r>
          </a:p>
          <a:p>
            <a:pPr algn="ctr"/>
            <a:r>
              <a:rPr sz="1200" b="0">
                <a:solidFill>
                  <a:srgbClr val="002060"/>
                </a:solidFill>
                <a:latin typeface="Bookman Old Style"/>
              </a:rPr>
              <a:t>pieces vote on each letter</a:t>
            </a:r>
          </a:p>
        </p:txBody>
      </p:sp>
      <p:sp>
        <p:nvSpPr>
          <p:cNvPr id="31" name="Right Arrow 30"/>
          <p:cNvSpPr/>
          <p:nvPr/>
        </p:nvSpPr>
        <p:spPr>
          <a:xfrm>
            <a:off x="4197096" y="507492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ge 9 Score"/>
          <p:cNvSpPr/>
          <p:nvPr/>
        </p:nvSpPr>
        <p:spPr>
          <a:xfrm>
            <a:off x="4503420" y="4709160"/>
            <a:ext cx="1554480" cy="960120"/>
          </a:xfrm>
          <a:prstGeom prst="roundRect">
            <a:avLst>
              <a:gd name="adj" fmla="val 8000"/>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002060"/>
                </a:solidFill>
                <a:latin typeface="Bookman Old Style"/>
              </a:rPr>
              <a:t>9 Score</a:t>
            </a:r>
          </a:p>
          <a:p>
            <a:pPr algn="ctr"/>
            <a:r>
              <a:rPr sz="1200" b="0">
                <a:solidFill>
                  <a:srgbClr val="002060"/>
                </a:solidFill>
                <a:latin typeface="Bookman Old Style"/>
              </a:rPr>
              <a:t>grade vs answer key</a:t>
            </a:r>
          </a:p>
        </p:txBody>
      </p:sp>
      <p:sp>
        <p:nvSpPr>
          <p:cNvPr id="33" name="Right Arrow 32"/>
          <p:cNvSpPr/>
          <p:nvPr/>
        </p:nvSpPr>
        <p:spPr>
          <a:xfrm>
            <a:off x="6094476" y="5074920"/>
            <a:ext cx="283464" cy="237744"/>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Output"/>
          <p:cNvSpPr/>
          <p:nvPr/>
        </p:nvSpPr>
        <p:spPr>
          <a:xfrm>
            <a:off x="6400800" y="4709160"/>
            <a:ext cx="1554480" cy="96012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FFFFFF"/>
                </a:solidFill>
                <a:latin typeface="Bookman Old Style"/>
              </a:rPr>
              <a:t>Output</a:t>
            </a:r>
          </a:p>
          <a:p>
            <a:pPr algn="ctr"/>
            <a:r>
              <a:rPr sz="1200" b="0">
                <a:solidFill>
                  <a:srgbClr val="FFFFFF"/>
                </a:solidFill>
                <a:latin typeface="Bookman Old Style"/>
              </a:rPr>
              <a:t>mutations found</a:t>
            </a:r>
          </a:p>
        </p:txBody>
      </p:sp>
    </p:spTree>
    <p:extLst>
      <p:ext uri="{BB962C8B-B14F-4D97-AF65-F5344CB8AC3E}">
        <p14:creationId xmlns:p14="http://schemas.microsoft.com/office/powerpoint/2010/main" val="213507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11</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1737360" y="0"/>
            <a:ext cx="9509760"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600" dirty="0"/>
              <a:t>Methodology: Data Structures</a:t>
            </a:r>
          </a:p>
        </p:txBody>
      </p:sp>
      <p:graphicFrame>
        <p:nvGraphicFramePr>
          <p:cNvPr id="6" name="Data structures table"/>
          <p:cNvGraphicFramePr>
            <a:graphicFrameLocks noGrp="1"/>
          </p:cNvGraphicFramePr>
          <p:nvPr/>
        </p:nvGraphicFramePr>
        <p:xfrm>
          <a:off x="365760" y="1051560"/>
          <a:ext cx="11430000" cy="4754880"/>
        </p:xfrm>
        <a:graphic>
          <a:graphicData uri="http://schemas.openxmlformats.org/drawingml/2006/table">
            <a:tbl>
              <a:tblPr firstRow="1" bandRow="1">
                <a:tableStyleId>{5C22544A-7EE6-4342-B048-85BDC9FD1C3A}</a:tableStyleId>
              </a:tblPr>
              <a:tblGrid>
                <a:gridCol w="2011680"/>
                <a:gridCol w="4297680"/>
                <a:gridCol w="5120640"/>
              </a:tblGrid>
              <a:tr h="475488">
                <a:tc>
                  <a:txBody>
                    <a:bodyPr wrap="square"/>
                    <a:lstStyle/>
                    <a:p>
                      <a:r>
                        <a:rPr sz="1500" b="1">
                          <a:solidFill>
                            <a:srgbClr val="FFFFFF"/>
                          </a:solidFill>
                          <a:latin typeface="Bookman Old Style"/>
                        </a:rPr>
                        <a:t>Stage</a:t>
                      </a:r>
                    </a:p>
                  </a:txBody>
                  <a:tcPr marL="73152" marR="73152" marT="36576" marB="36576" anchor="ctr">
                    <a:solidFill>
                      <a:srgbClr val="002060"/>
                    </a:solidFill>
                  </a:tcPr>
                </a:tc>
                <a:tc>
                  <a:txBody>
                    <a:bodyPr wrap="square"/>
                    <a:lstStyle/>
                    <a:p>
                      <a:r>
                        <a:rPr sz="1500" b="1">
                          <a:solidFill>
                            <a:srgbClr val="FFFFFF"/>
                          </a:solidFill>
                          <a:latin typeface="Bookman Old Style"/>
                        </a:rPr>
                        <a:t>Data structure</a:t>
                      </a:r>
                    </a:p>
                  </a:txBody>
                  <a:tcPr marL="73152" marR="73152" marT="36576" marB="36576" anchor="ctr">
                    <a:solidFill>
                      <a:srgbClr val="002060"/>
                    </a:solidFill>
                  </a:tcPr>
                </a:tc>
                <a:tc>
                  <a:txBody>
                    <a:bodyPr wrap="square"/>
                    <a:lstStyle/>
                    <a:p>
                      <a:r>
                        <a:rPr sz="1500" b="1">
                          <a:solidFill>
                            <a:srgbClr val="FFFFFF"/>
                          </a:solidFill>
                          <a:latin typeface="Bookman Old Style"/>
                        </a:rPr>
                        <a:t>Its job in plain words</a:t>
                      </a:r>
                    </a:p>
                  </a:txBody>
                  <a:tcPr marL="73152" marR="73152" marT="36576" marB="36576" anchor="ctr">
                    <a:solidFill>
                      <a:srgbClr val="002060"/>
                    </a:solidFill>
                  </a:tcPr>
                </a:tc>
              </a:tr>
              <a:tr h="475488">
                <a:tc>
                  <a:txBody>
                    <a:bodyPr wrap="square"/>
                    <a:lstStyle/>
                    <a:p>
                      <a:r>
                        <a:rPr sz="1500" b="1">
                          <a:solidFill>
                            <a:srgbClr val="002060"/>
                          </a:solidFill>
                          <a:latin typeface="Bookman Old Style"/>
                        </a:rPr>
                        <a:t>1 Load</a:t>
                      </a:r>
                    </a:p>
                  </a:txBody>
                  <a:tcPr marL="73152" marR="73152" marT="36576" marB="36576" anchor="ctr">
                    <a:solidFill>
                      <a:srgbClr val="FFFFFF"/>
                    </a:solidFill>
                  </a:tcPr>
                </a:tc>
                <a:tc>
                  <a:txBody>
                    <a:bodyPr wrap="square"/>
                    <a:lstStyle/>
                    <a:p>
                      <a:r>
                        <a:rPr sz="1500" b="0">
                          <a:solidFill>
                            <a:srgbClr val="002060"/>
                          </a:solidFill>
                          <a:latin typeface="Bookman Old Style"/>
                        </a:rPr>
                        <a:t>2-bit packed array</a:t>
                      </a:r>
                    </a:p>
                  </a:txBody>
                  <a:tcPr marL="73152" marR="73152" marT="36576" marB="36576" anchor="ctr">
                    <a:solidFill>
                      <a:srgbClr val="FFFFFF"/>
                    </a:solidFill>
                  </a:tcPr>
                </a:tc>
                <a:tc>
                  <a:txBody>
                    <a:bodyPr wrap="square"/>
                    <a:lstStyle/>
                    <a:p>
                      <a:r>
                        <a:rPr sz="1500" b="0">
                          <a:solidFill>
                            <a:srgbClr val="002060"/>
                          </a:solidFill>
                          <a:latin typeface="Bookman Old Style"/>
                        </a:rPr>
                        <a:t>Store the letters in 4x less memory</a:t>
                      </a:r>
                    </a:p>
                  </a:txBody>
                  <a:tcPr marL="73152" marR="73152" marT="36576" marB="36576" anchor="ctr">
                    <a:solidFill>
                      <a:srgbClr val="FFFFFF"/>
                    </a:solidFill>
                  </a:tcPr>
                </a:tc>
              </a:tr>
              <a:tr h="475488">
                <a:tc>
                  <a:txBody>
                    <a:bodyPr wrap="square"/>
                    <a:lstStyle/>
                    <a:p>
                      <a:r>
                        <a:rPr sz="1500" b="1">
                          <a:solidFill>
                            <a:srgbClr val="002060"/>
                          </a:solidFill>
                          <a:latin typeface="Bookman Old Style"/>
                        </a:rPr>
                        <a:t>2 Pick words</a:t>
                      </a:r>
                    </a:p>
                  </a:txBody>
                  <a:tcPr marL="73152" marR="73152" marT="36576" marB="36576" anchor="ctr">
                    <a:solidFill>
                      <a:srgbClr val="E8ECF5"/>
                    </a:solidFill>
                  </a:tcPr>
                </a:tc>
                <a:tc>
                  <a:txBody>
                    <a:bodyPr wrap="square"/>
                    <a:lstStyle/>
                    <a:p>
                      <a:r>
                        <a:rPr sz="1500" b="0">
                          <a:solidFill>
                            <a:srgbClr val="002060"/>
                          </a:solidFill>
                          <a:latin typeface="Bookman Old Style"/>
                        </a:rPr>
                        <a:t>Min-queue made of two stacks</a:t>
                      </a:r>
                    </a:p>
                  </a:txBody>
                  <a:tcPr marL="73152" marR="73152" marT="36576" marB="36576" anchor="ctr">
                    <a:solidFill>
                      <a:srgbClr val="E8ECF5"/>
                    </a:solidFill>
                  </a:tcPr>
                </a:tc>
                <a:tc>
                  <a:txBody>
                    <a:bodyPr wrap="square"/>
                    <a:lstStyle/>
                    <a:p>
                      <a:r>
                        <a:rPr sz="1500" b="0">
                          <a:solidFill>
                            <a:srgbClr val="002060"/>
                          </a:solidFill>
                          <a:latin typeface="Bookman Old Style"/>
                        </a:rPr>
                        <a:t>Keep a few words, spread along the text</a:t>
                      </a:r>
                    </a:p>
                  </a:txBody>
                  <a:tcPr marL="73152" marR="73152" marT="36576" marB="36576" anchor="ctr">
                    <a:solidFill>
                      <a:srgbClr val="E8ECF5"/>
                    </a:solidFill>
                  </a:tcPr>
                </a:tc>
              </a:tr>
              <a:tr h="475488">
                <a:tc>
                  <a:txBody>
                    <a:bodyPr wrap="square"/>
                    <a:lstStyle/>
                    <a:p>
                      <a:r>
                        <a:rPr sz="1500" b="1">
                          <a:solidFill>
                            <a:srgbClr val="002060"/>
                          </a:solidFill>
                          <a:latin typeface="Bookman Old Style"/>
                        </a:rPr>
                        <a:t>3 Index</a:t>
                      </a:r>
                    </a:p>
                  </a:txBody>
                  <a:tcPr marL="73152" marR="73152" marT="36576" marB="36576" anchor="ctr">
                    <a:solidFill>
                      <a:srgbClr val="FFFFFF"/>
                    </a:solidFill>
                  </a:tcPr>
                </a:tc>
                <a:tc>
                  <a:txBody>
                    <a:bodyPr wrap="square"/>
                    <a:lstStyle/>
                    <a:p>
                      <a:r>
                        <a:rPr sz="1500" b="0">
                          <a:solidFill>
                            <a:srgbClr val="002060"/>
                          </a:solidFill>
                          <a:latin typeface="Bookman Old Style"/>
                        </a:rPr>
                        <a:t>Hash table with linked lists</a:t>
                      </a:r>
                    </a:p>
                  </a:txBody>
                  <a:tcPr marL="73152" marR="73152" marT="36576" marB="36576" anchor="ctr">
                    <a:solidFill>
                      <a:srgbClr val="FFFFFF"/>
                    </a:solidFill>
                  </a:tcPr>
                </a:tc>
                <a:tc>
                  <a:txBody>
                    <a:bodyPr wrap="square"/>
                    <a:lstStyle/>
                    <a:p>
                      <a:r>
                        <a:rPr sz="1500" b="0">
                          <a:solidFill>
                            <a:srgbClr val="002060"/>
                          </a:solidFill>
                          <a:latin typeface="Bookman Old Style"/>
                        </a:rPr>
                        <a:t>Look up a word, get its positions</a:t>
                      </a:r>
                    </a:p>
                  </a:txBody>
                  <a:tcPr marL="73152" marR="73152" marT="36576" marB="36576" anchor="ctr">
                    <a:solidFill>
                      <a:srgbClr val="FFFFFF"/>
                    </a:solidFill>
                  </a:tcPr>
                </a:tc>
              </a:tr>
              <a:tr h="475488">
                <a:tc>
                  <a:txBody>
                    <a:bodyPr wrap="square"/>
                    <a:lstStyle/>
                    <a:p>
                      <a:r>
                        <a:rPr sz="1500" b="1">
                          <a:solidFill>
                            <a:srgbClr val="002060"/>
                          </a:solidFill>
                          <a:latin typeface="Bookman Old Style"/>
                        </a:rPr>
                        <a:t>4 Pre-check</a:t>
                      </a:r>
                    </a:p>
                  </a:txBody>
                  <a:tcPr marL="73152" marR="73152" marT="36576" marB="36576" anchor="ctr">
                    <a:solidFill>
                      <a:srgbClr val="E8ECF5"/>
                    </a:solidFill>
                  </a:tcPr>
                </a:tc>
                <a:tc>
                  <a:txBody>
                    <a:bodyPr wrap="square"/>
                    <a:lstStyle/>
                    <a:p>
                      <a:r>
                        <a:rPr sz="1500" b="0">
                          <a:solidFill>
                            <a:srgbClr val="002060"/>
                          </a:solidFill>
                          <a:latin typeface="Bookman Old Style"/>
                        </a:rPr>
                        <a:t>Bloom filter (bit array)</a:t>
                      </a:r>
                    </a:p>
                  </a:txBody>
                  <a:tcPr marL="73152" marR="73152" marT="36576" marB="36576" anchor="ctr">
                    <a:solidFill>
                      <a:srgbClr val="E8ECF5"/>
                    </a:solidFill>
                  </a:tcPr>
                </a:tc>
                <a:tc>
                  <a:txBody>
                    <a:bodyPr wrap="square"/>
                    <a:lstStyle/>
                    <a:p>
                      <a:r>
                        <a:rPr sz="1500" b="0">
                          <a:solidFill>
                            <a:srgbClr val="002060"/>
                          </a:solidFill>
                          <a:latin typeface="Bookman Old Style"/>
                        </a:rPr>
                        <a:t>Quick "definitely not there" test</a:t>
                      </a:r>
                    </a:p>
                  </a:txBody>
                  <a:tcPr marL="73152" marR="73152" marT="36576" marB="36576" anchor="ctr">
                    <a:solidFill>
                      <a:srgbClr val="E8ECF5"/>
                    </a:solidFill>
                  </a:tcPr>
                </a:tc>
              </a:tr>
              <a:tr h="475488">
                <a:tc>
                  <a:txBody>
                    <a:bodyPr wrap="square"/>
                    <a:lstStyle/>
                    <a:p>
                      <a:r>
                        <a:rPr sz="1500" b="1">
                          <a:solidFill>
                            <a:srgbClr val="002060"/>
                          </a:solidFill>
                          <a:latin typeface="Bookman Old Style"/>
                        </a:rPr>
                        <a:t>5 Vote</a:t>
                      </a:r>
                    </a:p>
                  </a:txBody>
                  <a:tcPr marL="73152" marR="73152" marT="36576" marB="36576" anchor="ctr">
                    <a:solidFill>
                      <a:srgbClr val="FFFFFF"/>
                    </a:solidFill>
                  </a:tcPr>
                </a:tc>
                <a:tc>
                  <a:txBody>
                    <a:bodyPr wrap="square"/>
                    <a:lstStyle/>
                    <a:p>
                      <a:r>
                        <a:rPr sz="1500" b="0">
                          <a:solidFill>
                            <a:srgbClr val="002060"/>
                          </a:solidFill>
                          <a:latin typeface="Bookman Old Style"/>
                        </a:rPr>
                        <a:t>Binary search tree (BST)</a:t>
                      </a:r>
                    </a:p>
                  </a:txBody>
                  <a:tcPr marL="73152" marR="73152" marT="36576" marB="36576" anchor="ctr">
                    <a:solidFill>
                      <a:srgbClr val="FFFFFF"/>
                    </a:solidFill>
                  </a:tcPr>
                </a:tc>
                <a:tc>
                  <a:txBody>
                    <a:bodyPr wrap="square"/>
                    <a:lstStyle/>
                    <a:p>
                      <a:r>
                        <a:rPr sz="1500" b="0">
                          <a:solidFill>
                            <a:srgbClr val="002060"/>
                          </a:solidFill>
                          <a:latin typeface="Bookman Old Style"/>
                        </a:rPr>
                        <a:t>Tally how many words agree on each start</a:t>
                      </a:r>
                    </a:p>
                  </a:txBody>
                  <a:tcPr marL="73152" marR="73152" marT="36576" marB="36576" anchor="ctr">
                    <a:solidFill>
                      <a:srgbClr val="FFFFFF"/>
                    </a:solidFill>
                  </a:tcPr>
                </a:tc>
              </a:tr>
              <a:tr h="475488">
                <a:tc>
                  <a:txBody>
                    <a:bodyPr wrap="square"/>
                    <a:lstStyle/>
                    <a:p>
                      <a:r>
                        <a:rPr sz="1500" b="1">
                          <a:solidFill>
                            <a:srgbClr val="002060"/>
                          </a:solidFill>
                          <a:latin typeface="Bookman Old Style"/>
                        </a:rPr>
                        <a:t>6 Short-list</a:t>
                      </a:r>
                    </a:p>
                  </a:txBody>
                  <a:tcPr marL="73152" marR="73152" marT="36576" marB="36576" anchor="ctr">
                    <a:solidFill>
                      <a:srgbClr val="E8ECF5"/>
                    </a:solidFill>
                  </a:tcPr>
                </a:tc>
                <a:tc>
                  <a:txBody>
                    <a:bodyPr wrap="square"/>
                    <a:lstStyle/>
                    <a:p>
                      <a:r>
                        <a:rPr sz="1500" b="0">
                          <a:solidFill>
                            <a:srgbClr val="002060"/>
                          </a:solidFill>
                          <a:latin typeface="Bookman Old Style"/>
                        </a:rPr>
                        <a:t>Min-heap of size 3 (a binary tree)</a:t>
                      </a:r>
                    </a:p>
                  </a:txBody>
                  <a:tcPr marL="73152" marR="73152" marT="36576" marB="36576" anchor="ctr">
                    <a:solidFill>
                      <a:srgbClr val="E8ECF5"/>
                    </a:solidFill>
                  </a:tcPr>
                </a:tc>
                <a:tc>
                  <a:txBody>
                    <a:bodyPr wrap="square"/>
                    <a:lstStyle/>
                    <a:p>
                      <a:r>
                        <a:rPr sz="1500" b="0">
                          <a:solidFill>
                            <a:srgbClr val="002060"/>
                          </a:solidFill>
                          <a:latin typeface="Bookman Old Style"/>
                        </a:rPr>
                        <a:t>Keep the 3 best guesses</a:t>
                      </a:r>
                    </a:p>
                  </a:txBody>
                  <a:tcPr marL="73152" marR="73152" marT="36576" marB="36576" anchor="ctr">
                    <a:solidFill>
                      <a:srgbClr val="E8ECF5"/>
                    </a:solidFill>
                  </a:tcPr>
                </a:tc>
              </a:tr>
              <a:tr h="475488">
                <a:tc>
                  <a:txBody>
                    <a:bodyPr wrap="square"/>
                    <a:lstStyle/>
                    <a:p>
                      <a:r>
                        <a:rPr sz="1500" b="1">
                          <a:solidFill>
                            <a:srgbClr val="002060"/>
                          </a:solidFill>
                          <a:latin typeface="Bookman Old Style"/>
                        </a:rPr>
                        <a:t>7 Verify</a:t>
                      </a:r>
                    </a:p>
                  </a:txBody>
                  <a:tcPr marL="73152" marR="73152" marT="36576" marB="36576" anchor="ctr">
                    <a:solidFill>
                      <a:srgbClr val="FFFFFF"/>
                    </a:solidFill>
                  </a:tcPr>
                </a:tc>
                <a:tc>
                  <a:txBody>
                    <a:bodyPr wrap="square"/>
                    <a:lstStyle/>
                    <a:p>
                      <a:r>
                        <a:rPr sz="1500" b="0">
                          <a:solidFill>
                            <a:srgbClr val="002060"/>
                          </a:solidFill>
                          <a:latin typeface="Bookman Old Style"/>
                        </a:rPr>
                        <a:t>2D array (banded grid)</a:t>
                      </a:r>
                    </a:p>
                  </a:txBody>
                  <a:tcPr marL="73152" marR="73152" marT="36576" marB="36576" anchor="ctr">
                    <a:solidFill>
                      <a:srgbClr val="FFFFFF"/>
                    </a:solidFill>
                  </a:tcPr>
                </a:tc>
                <a:tc>
                  <a:txBody>
                    <a:bodyPr wrap="square"/>
                    <a:lstStyle/>
                    <a:p>
                      <a:r>
                        <a:rPr sz="1500" b="0">
                          <a:solidFill>
                            <a:srgbClr val="002060"/>
                          </a:solidFill>
                          <a:latin typeface="Bookman Old Style"/>
                        </a:rPr>
                        <a:t>Compare letters, count the fewest edits</a:t>
                      </a:r>
                    </a:p>
                  </a:txBody>
                  <a:tcPr marL="73152" marR="73152" marT="36576" marB="36576" anchor="ctr">
                    <a:solidFill>
                      <a:srgbClr val="FFFFFF"/>
                    </a:solidFill>
                  </a:tcPr>
                </a:tc>
              </a:tr>
              <a:tr h="475488">
                <a:tc>
                  <a:txBody>
                    <a:bodyPr wrap="square"/>
                    <a:lstStyle/>
                    <a:p>
                      <a:r>
                        <a:rPr sz="1500" b="1">
                          <a:solidFill>
                            <a:srgbClr val="002060"/>
                          </a:solidFill>
                          <a:latin typeface="Bookman Old Style"/>
                        </a:rPr>
                        <a:t>8 Pile up</a:t>
                      </a:r>
                    </a:p>
                  </a:txBody>
                  <a:tcPr marL="73152" marR="73152" marT="36576" marB="36576" anchor="ctr">
                    <a:solidFill>
                      <a:srgbClr val="E8ECF5"/>
                    </a:solidFill>
                  </a:tcPr>
                </a:tc>
                <a:tc>
                  <a:txBody>
                    <a:bodyPr wrap="square"/>
                    <a:lstStyle/>
                    <a:p>
                      <a:r>
                        <a:rPr sz="1500" b="0">
                          <a:solidFill>
                            <a:srgbClr val="002060"/>
                          </a:solidFill>
                          <a:latin typeface="Bookman Old Style"/>
                        </a:rPr>
                        <a:t>Counting arrays</a:t>
                      </a:r>
                    </a:p>
                  </a:txBody>
                  <a:tcPr marL="73152" marR="73152" marT="36576" marB="36576" anchor="ctr">
                    <a:solidFill>
                      <a:srgbClr val="E8ECF5"/>
                    </a:solidFill>
                  </a:tcPr>
                </a:tc>
                <a:tc>
                  <a:txBody>
                    <a:bodyPr wrap="square"/>
                    <a:lstStyle/>
                    <a:p>
                      <a:r>
                        <a:rPr sz="1500" b="0">
                          <a:solidFill>
                            <a:srgbClr val="002060"/>
                          </a:solidFill>
                          <a:latin typeface="Bookman Old Style"/>
                        </a:rPr>
                        <a:t>Per position: how many pieces say A, C, G, T</a:t>
                      </a:r>
                    </a:p>
                  </a:txBody>
                  <a:tcPr marL="73152" marR="73152" marT="36576" marB="36576" anchor="ctr">
                    <a:solidFill>
                      <a:srgbClr val="E8ECF5"/>
                    </a:solidFill>
                  </a:tcPr>
                </a:tc>
              </a:tr>
              <a:tr h="475488">
                <a:tc>
                  <a:txBody>
                    <a:bodyPr wrap="square"/>
                    <a:lstStyle/>
                    <a:p>
                      <a:r>
                        <a:rPr sz="1500" b="1">
                          <a:solidFill>
                            <a:srgbClr val="002060"/>
                          </a:solidFill>
                          <a:latin typeface="Bookman Old Style"/>
                        </a:rPr>
                        <a:t>9 Score</a:t>
                      </a:r>
                    </a:p>
                  </a:txBody>
                  <a:tcPr marL="73152" marR="73152" marT="36576" marB="36576" anchor="ctr">
                    <a:solidFill>
                      <a:srgbClr val="FFFFFF"/>
                    </a:solidFill>
                  </a:tcPr>
                </a:tc>
                <a:tc>
                  <a:txBody>
                    <a:bodyPr wrap="square"/>
                    <a:lstStyle/>
                    <a:p>
                      <a:r>
                        <a:rPr sz="1500" b="0">
                          <a:solidFill>
                            <a:srgbClr val="002060"/>
                          </a:solidFill>
                          <a:latin typeface="Bookman Old Style"/>
                        </a:rPr>
                        <a:t>Sorted array + binary search</a:t>
                      </a:r>
                    </a:p>
                  </a:txBody>
                  <a:tcPr marL="73152" marR="73152" marT="36576" marB="36576" anchor="ctr">
                    <a:solidFill>
                      <a:srgbClr val="FFFFFF"/>
                    </a:solidFill>
                  </a:tcPr>
                </a:tc>
                <a:tc>
                  <a:txBody>
                    <a:bodyPr wrap="square"/>
                    <a:lstStyle/>
                    <a:p>
                      <a:r>
                        <a:rPr sz="1500" b="0">
                          <a:solidFill>
                            <a:srgbClr val="002060"/>
                          </a:solidFill>
                          <a:latin typeface="Bookman Old Style"/>
                        </a:rPr>
                        <a:t>Grade the results against the answer key</a:t>
                      </a:r>
                    </a:p>
                  </a:txBody>
                  <a:tcPr marL="73152" marR="73152" marT="36576" marB="36576" anchor="ctr">
                    <a:solidFill>
                      <a:srgbClr val="FFFFFF"/>
                    </a:solidFill>
                  </a:tcPr>
                </a:tc>
              </a:tr>
            </a:tbl>
          </a:graphicData>
        </a:graphic>
      </p:graphicFrame>
      <p:sp>
        <p:nvSpPr>
          <p:cNvPr id="7" name="TextBox 6"/>
          <p:cNvSpPr txBox="1"/>
          <p:nvPr/>
        </p:nvSpPr>
        <p:spPr>
          <a:xfrm>
            <a:off x="365760" y="5870448"/>
            <a:ext cx="11430000" cy="365760"/>
          </a:xfrm>
          <a:prstGeom prst="rect">
            <a:avLst/>
          </a:prstGeom>
          <a:noFill/>
        </p:spPr>
        <p:txBody>
          <a:bodyPr wrap="square" anchor="t" lIns="45720" rIns="45720" tIns="27432" bIns="27432">
            <a:spAutoFit/>
          </a:bodyPr>
          <a:lstStyle/>
          <a:p>
            <a:pPr algn="l"/>
            <a:r>
              <a:rPr sz="1400" b="0" i="1">
                <a:solidFill>
                  <a:srgbClr val="002060"/>
                </a:solidFill>
                <a:latin typeface="Bookman Old Style"/>
              </a:rPr>
              <a:t>Optional add-ons if time allows: a trie index (a tree) and a de Bruijn graph cross-check (a graph).</a:t>
            </a:r>
          </a:p>
        </p:txBody>
      </p:sp>
    </p:spTree>
    <p:extLst>
      <p:ext uri="{BB962C8B-B14F-4D97-AF65-F5344CB8AC3E}">
        <p14:creationId xmlns:p14="http://schemas.microsoft.com/office/powerpoint/2010/main" val="213507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11</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1737360" y="0"/>
            <a:ext cx="9966960"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t>Methodology: One Piece Step by Step</a:t>
            </a:r>
          </a:p>
        </p:txBody>
      </p:sp>
      <p:graphicFrame>
        <p:nvGraphicFramePr>
          <p:cNvPr id="6" name="Worked example table"/>
          <p:cNvGraphicFramePr>
            <a:graphicFrameLocks noGrp="1"/>
          </p:cNvGraphicFramePr>
          <p:nvPr/>
        </p:nvGraphicFramePr>
        <p:xfrm>
          <a:off x="365760" y="1097280"/>
          <a:ext cx="7040880" cy="3950208"/>
        </p:xfrm>
        <a:graphic>
          <a:graphicData uri="http://schemas.openxmlformats.org/drawingml/2006/table">
            <a:tbl>
              <a:tblPr firstRow="1" bandRow="1">
                <a:tableStyleId>{5C22544A-7EE6-4342-B048-85BDC9FD1C3A}</a:tableStyleId>
              </a:tblPr>
              <a:tblGrid>
                <a:gridCol w="1371600"/>
                <a:gridCol w="1645920"/>
                <a:gridCol w="2011680"/>
                <a:gridCol w="2011680"/>
              </a:tblGrid>
              <a:tr h="658368">
                <a:tc>
                  <a:txBody>
                    <a:bodyPr wrap="square"/>
                    <a:lstStyle/>
                    <a:p>
                      <a:r>
                        <a:rPr sz="1500" b="1">
                          <a:solidFill>
                            <a:srgbClr val="FFFFFF"/>
                          </a:solidFill>
                          <a:latin typeface="Bookman Old Style"/>
                        </a:rPr>
                        <a:t>Word</a:t>
                      </a:r>
                    </a:p>
                  </a:txBody>
                  <a:tcPr marL="73152" marR="73152" marT="36576" marB="36576" anchor="ctr">
                    <a:solidFill>
                      <a:srgbClr val="002060"/>
                    </a:solidFill>
                  </a:tcPr>
                </a:tc>
                <a:tc>
                  <a:txBody>
                    <a:bodyPr wrap="square"/>
                    <a:lstStyle/>
                    <a:p>
                      <a:r>
                        <a:rPr sz="1500" b="1">
                          <a:solidFill>
                            <a:srgbClr val="FFFFFF"/>
                          </a:solidFill>
                          <a:latin typeface="Bookman Old Style"/>
                        </a:rPr>
                        <a:t>Position in piece</a:t>
                      </a:r>
                    </a:p>
                  </a:txBody>
                  <a:tcPr marL="73152" marR="73152" marT="36576" marB="36576" anchor="ctr">
                    <a:solidFill>
                      <a:srgbClr val="002060"/>
                    </a:solidFill>
                  </a:tcPr>
                </a:tc>
                <a:tc>
                  <a:txBody>
                    <a:bodyPr wrap="square"/>
                    <a:lstStyle/>
                    <a:p>
                      <a:r>
                        <a:rPr sz="1500" b="1">
                          <a:solidFill>
                            <a:srgbClr val="FFFFFF"/>
                          </a:solidFill>
                          <a:latin typeface="Bookman Old Style"/>
                        </a:rPr>
                        <a:t>Positions in reference</a:t>
                      </a:r>
                    </a:p>
                  </a:txBody>
                  <a:tcPr marL="73152" marR="73152" marT="36576" marB="36576" anchor="ctr">
                    <a:solidFill>
                      <a:srgbClr val="002060"/>
                    </a:solidFill>
                  </a:tcPr>
                </a:tc>
                <a:tc>
                  <a:txBody>
                    <a:bodyPr wrap="square"/>
                    <a:lstStyle/>
                    <a:p>
                      <a:r>
                        <a:rPr sz="1500" b="1">
                          <a:solidFill>
                            <a:srgbClr val="FFFFFF"/>
                          </a:solidFill>
                          <a:latin typeface="Bookman Old Style"/>
                        </a:rPr>
                        <a:t>Start = reference - piece</a:t>
                      </a:r>
                    </a:p>
                  </a:txBody>
                  <a:tcPr marL="73152" marR="73152" marT="36576" marB="36576" anchor="ctr">
                    <a:solidFill>
                      <a:srgbClr val="002060"/>
                    </a:solidFill>
                  </a:tcPr>
                </a:tc>
              </a:tr>
              <a:tr h="658368">
                <a:tc>
                  <a:txBody>
                    <a:bodyPr wrap="square"/>
                    <a:lstStyle/>
                    <a:p>
                      <a:r>
                        <a:rPr sz="1500" b="1">
                          <a:solidFill>
                            <a:srgbClr val="002060"/>
                          </a:solidFill>
                          <a:latin typeface="Bookman Old Style"/>
                        </a:rPr>
                        <a:t>CACG</a:t>
                      </a:r>
                    </a:p>
                  </a:txBody>
                  <a:tcPr marL="73152" marR="73152" marT="36576" marB="36576" anchor="ctr">
                    <a:solidFill>
                      <a:srgbClr val="FFFFFF"/>
                    </a:solidFill>
                  </a:tcPr>
                </a:tc>
                <a:tc>
                  <a:txBody>
                    <a:bodyPr wrap="square"/>
                    <a:lstStyle/>
                    <a:p>
                      <a:r>
                        <a:rPr sz="1500" b="0">
                          <a:solidFill>
                            <a:srgbClr val="002060"/>
                          </a:solidFill>
                          <a:latin typeface="Bookman Old Style"/>
                        </a:rPr>
                        <a:t>3</a:t>
                      </a:r>
                    </a:p>
                  </a:txBody>
                  <a:tcPr marL="73152" marR="73152" marT="36576" marB="36576" anchor="ctr">
                    <a:solidFill>
                      <a:srgbClr val="FFFFFF"/>
                    </a:solidFill>
                  </a:tcPr>
                </a:tc>
                <a:tc>
                  <a:txBody>
                    <a:bodyPr wrap="square"/>
                    <a:lstStyle/>
                    <a:p>
                      <a:r>
                        <a:rPr sz="1500" b="0">
                          <a:solidFill>
                            <a:srgbClr val="002060"/>
                          </a:solidFill>
                          <a:latin typeface="Bookman Old Style"/>
                        </a:rPr>
                        <a:t>6</a:t>
                      </a:r>
                    </a:p>
                  </a:txBody>
                  <a:tcPr marL="73152" marR="73152" marT="36576" marB="36576" anchor="ctr">
                    <a:solidFill>
                      <a:srgbClr val="FFFFFF"/>
                    </a:solidFill>
                  </a:tcPr>
                </a:tc>
                <a:tc>
                  <a:txBody>
                    <a:bodyPr wrap="square"/>
                    <a:lstStyle/>
                    <a:p>
                      <a:r>
                        <a:rPr sz="1500" b="1">
                          <a:solidFill>
                            <a:srgbClr val="C00000"/>
                          </a:solidFill>
                          <a:latin typeface="Bookman Old Style"/>
                        </a:rPr>
                        <a:t>3</a:t>
                      </a:r>
                    </a:p>
                  </a:txBody>
                  <a:tcPr marL="73152" marR="73152" marT="36576" marB="36576" anchor="ctr">
                    <a:solidFill>
                      <a:srgbClr val="FFFFFF"/>
                    </a:solidFill>
                  </a:tcPr>
                </a:tc>
              </a:tr>
              <a:tr h="658368">
                <a:tc>
                  <a:txBody>
                    <a:bodyPr wrap="square"/>
                    <a:lstStyle/>
                    <a:p>
                      <a:r>
                        <a:rPr sz="1500" b="1">
                          <a:solidFill>
                            <a:srgbClr val="002060"/>
                          </a:solidFill>
                          <a:latin typeface="Bookman Old Style"/>
                        </a:rPr>
                        <a:t>ACGA</a:t>
                      </a:r>
                    </a:p>
                  </a:txBody>
                  <a:tcPr marL="73152" marR="73152" marT="36576" marB="36576" anchor="ctr">
                    <a:solidFill>
                      <a:srgbClr val="E8ECF5"/>
                    </a:solidFill>
                  </a:tcPr>
                </a:tc>
                <a:tc>
                  <a:txBody>
                    <a:bodyPr wrap="square"/>
                    <a:lstStyle/>
                    <a:p>
                      <a:r>
                        <a:rPr sz="1500" b="0">
                          <a:solidFill>
                            <a:srgbClr val="002060"/>
                          </a:solidFill>
                          <a:latin typeface="Bookman Old Style"/>
                        </a:rPr>
                        <a:t>4</a:t>
                      </a:r>
                    </a:p>
                  </a:txBody>
                  <a:tcPr marL="73152" marR="73152" marT="36576" marB="36576" anchor="ctr">
                    <a:solidFill>
                      <a:srgbClr val="E8ECF5"/>
                    </a:solidFill>
                  </a:tcPr>
                </a:tc>
                <a:tc>
                  <a:txBody>
                    <a:bodyPr wrap="square"/>
                    <a:lstStyle/>
                    <a:p>
                      <a:r>
                        <a:rPr sz="1500" b="0">
                          <a:solidFill>
                            <a:srgbClr val="002060"/>
                          </a:solidFill>
                          <a:latin typeface="Bookman Old Style"/>
                        </a:rPr>
                        <a:t>7, 30</a:t>
                      </a:r>
                    </a:p>
                  </a:txBody>
                  <a:tcPr marL="73152" marR="73152" marT="36576" marB="36576" anchor="ctr">
                    <a:solidFill>
                      <a:srgbClr val="E8ECF5"/>
                    </a:solidFill>
                  </a:tcPr>
                </a:tc>
                <a:tc>
                  <a:txBody>
                    <a:bodyPr wrap="square"/>
                    <a:lstStyle/>
                    <a:p>
                      <a:r>
                        <a:rPr sz="1500" b="1">
                          <a:solidFill>
                            <a:srgbClr val="C00000"/>
                          </a:solidFill>
                          <a:latin typeface="Bookman Old Style"/>
                        </a:rPr>
                        <a:t>3</a:t>
                      </a:r>
                      <a:r>
                        <a:rPr sz="1500" b="0">
                          <a:solidFill>
                            <a:srgbClr val="002060"/>
                          </a:solidFill>
                          <a:latin typeface="Bookman Old Style"/>
                        </a:rPr>
                        <a:t>, 26</a:t>
                      </a:r>
                    </a:p>
                  </a:txBody>
                  <a:tcPr marL="73152" marR="73152" marT="36576" marB="36576" anchor="ctr">
                    <a:solidFill>
                      <a:srgbClr val="E8ECF5"/>
                    </a:solidFill>
                  </a:tcPr>
                </a:tc>
              </a:tr>
              <a:tr h="658368">
                <a:tc>
                  <a:txBody>
                    <a:bodyPr wrap="square"/>
                    <a:lstStyle/>
                    <a:p>
                      <a:r>
                        <a:rPr sz="1500" b="1">
                          <a:solidFill>
                            <a:srgbClr val="002060"/>
                          </a:solidFill>
                          <a:latin typeface="Bookman Old Style"/>
                        </a:rPr>
                        <a:t>AAGC</a:t>
                      </a:r>
                    </a:p>
                  </a:txBody>
                  <a:tcPr marL="73152" marR="73152" marT="36576" marB="36576" anchor="ctr">
                    <a:solidFill>
                      <a:srgbClr val="FFFFFF"/>
                    </a:solidFill>
                  </a:tcPr>
                </a:tc>
                <a:tc>
                  <a:txBody>
                    <a:bodyPr wrap="square"/>
                    <a:lstStyle/>
                    <a:p>
                      <a:r>
                        <a:rPr sz="1500" b="0">
                          <a:solidFill>
                            <a:srgbClr val="002060"/>
                          </a:solidFill>
                          <a:latin typeface="Bookman Old Style"/>
                        </a:rPr>
                        <a:t>7</a:t>
                      </a:r>
                    </a:p>
                  </a:txBody>
                  <a:tcPr marL="73152" marR="73152" marT="36576" marB="36576" anchor="ctr">
                    <a:solidFill>
                      <a:srgbClr val="FFFFFF"/>
                    </a:solidFill>
                  </a:tcPr>
                </a:tc>
                <a:tc>
                  <a:txBody>
                    <a:bodyPr wrap="square"/>
                    <a:lstStyle/>
                    <a:p>
                      <a:r>
                        <a:rPr sz="1500" b="0">
                          <a:solidFill>
                            <a:srgbClr val="002060"/>
                          </a:solidFill>
                          <a:latin typeface="Bookman Old Style"/>
                        </a:rPr>
                        <a:t>10</a:t>
                      </a:r>
                    </a:p>
                  </a:txBody>
                  <a:tcPr marL="73152" marR="73152" marT="36576" marB="36576" anchor="ctr">
                    <a:solidFill>
                      <a:srgbClr val="FFFFFF"/>
                    </a:solidFill>
                  </a:tcPr>
                </a:tc>
                <a:tc>
                  <a:txBody>
                    <a:bodyPr wrap="square"/>
                    <a:lstStyle/>
                    <a:p>
                      <a:r>
                        <a:rPr sz="1500" b="1">
                          <a:solidFill>
                            <a:srgbClr val="C00000"/>
                          </a:solidFill>
                          <a:latin typeface="Bookman Old Style"/>
                        </a:rPr>
                        <a:t>3</a:t>
                      </a:r>
                    </a:p>
                  </a:txBody>
                  <a:tcPr marL="73152" marR="73152" marT="36576" marB="36576" anchor="ctr">
                    <a:solidFill>
                      <a:srgbClr val="FFFFFF"/>
                    </a:solidFill>
                  </a:tcPr>
                </a:tc>
              </a:tr>
              <a:tr h="658368">
                <a:tc>
                  <a:txBody>
                    <a:bodyPr wrap="square"/>
                    <a:lstStyle/>
                    <a:p>
                      <a:r>
                        <a:rPr sz="1500" b="1">
                          <a:solidFill>
                            <a:srgbClr val="002060"/>
                          </a:solidFill>
                          <a:latin typeface="Bookman Old Style"/>
                        </a:rPr>
                        <a:t>CTTC</a:t>
                      </a:r>
                    </a:p>
                  </a:txBody>
                  <a:tcPr marL="73152" marR="73152" marT="36576" marB="36576" anchor="ctr">
                    <a:solidFill>
                      <a:srgbClr val="E8ECF5"/>
                    </a:solidFill>
                  </a:tcPr>
                </a:tc>
                <a:tc>
                  <a:txBody>
                    <a:bodyPr wrap="square"/>
                    <a:lstStyle/>
                    <a:p>
                      <a:r>
                        <a:rPr sz="1500" b="0">
                          <a:solidFill>
                            <a:srgbClr val="002060"/>
                          </a:solidFill>
                          <a:latin typeface="Bookman Old Style"/>
                        </a:rPr>
                        <a:t>10</a:t>
                      </a:r>
                    </a:p>
                  </a:txBody>
                  <a:tcPr marL="73152" marR="73152" marT="36576" marB="36576" anchor="ctr">
                    <a:solidFill>
                      <a:srgbClr val="E8ECF5"/>
                    </a:solidFill>
                  </a:tcPr>
                </a:tc>
                <a:tc>
                  <a:txBody>
                    <a:bodyPr wrap="square"/>
                    <a:lstStyle/>
                    <a:p>
                      <a:r>
                        <a:rPr sz="1500" b="0">
                          <a:solidFill>
                            <a:srgbClr val="002060"/>
                          </a:solidFill>
                          <a:latin typeface="Bookman Old Style"/>
                        </a:rPr>
                        <a:t>13, 25</a:t>
                      </a:r>
                    </a:p>
                  </a:txBody>
                  <a:tcPr marL="73152" marR="73152" marT="36576" marB="36576" anchor="ctr">
                    <a:solidFill>
                      <a:srgbClr val="E8ECF5"/>
                    </a:solidFill>
                  </a:tcPr>
                </a:tc>
                <a:tc>
                  <a:txBody>
                    <a:bodyPr wrap="square"/>
                    <a:lstStyle/>
                    <a:p>
                      <a:r>
                        <a:rPr sz="1500" b="1">
                          <a:solidFill>
                            <a:srgbClr val="C00000"/>
                          </a:solidFill>
                          <a:latin typeface="Bookman Old Style"/>
                        </a:rPr>
                        <a:t>3</a:t>
                      </a:r>
                      <a:r>
                        <a:rPr sz="1500" b="0">
                          <a:solidFill>
                            <a:srgbClr val="002060"/>
                          </a:solidFill>
                          <a:latin typeface="Bookman Old Style"/>
                        </a:rPr>
                        <a:t>, 15</a:t>
                      </a:r>
                    </a:p>
                  </a:txBody>
                  <a:tcPr marL="73152" marR="73152" marT="36576" marB="36576" anchor="ctr">
                    <a:solidFill>
                      <a:srgbClr val="E8ECF5"/>
                    </a:solidFill>
                  </a:tcPr>
                </a:tc>
              </a:tr>
              <a:tr h="658368">
                <a:tc>
                  <a:txBody>
                    <a:bodyPr wrap="square"/>
                    <a:lstStyle/>
                    <a:p>
                      <a:r>
                        <a:rPr sz="1500" b="1">
                          <a:solidFill>
                            <a:srgbClr val="002060"/>
                          </a:solidFill>
                          <a:latin typeface="Bookman Old Style"/>
                        </a:rPr>
                        <a:t>GCGG</a:t>
                      </a:r>
                    </a:p>
                  </a:txBody>
                  <a:tcPr marL="73152" marR="73152" marT="36576" marB="36576" anchor="ctr">
                    <a:solidFill>
                      <a:srgbClr val="FFFFFF"/>
                    </a:solidFill>
                  </a:tcPr>
                </a:tc>
                <a:tc>
                  <a:txBody>
                    <a:bodyPr wrap="square"/>
                    <a:lstStyle/>
                    <a:p>
                      <a:r>
                        <a:rPr sz="1500" b="0">
                          <a:solidFill>
                            <a:srgbClr val="002060"/>
                          </a:solidFill>
                          <a:latin typeface="Bookman Old Style"/>
                        </a:rPr>
                        <a:t>14</a:t>
                      </a:r>
                    </a:p>
                  </a:txBody>
                  <a:tcPr marL="73152" marR="73152" marT="36576" marB="36576" anchor="ctr">
                    <a:solidFill>
                      <a:srgbClr val="FFFFFF"/>
                    </a:solidFill>
                  </a:tcPr>
                </a:tc>
                <a:tc>
                  <a:txBody>
                    <a:bodyPr wrap="square"/>
                    <a:lstStyle/>
                    <a:p>
                      <a:r>
                        <a:rPr sz="1500" b="0">
                          <a:solidFill>
                            <a:srgbClr val="002060"/>
                          </a:solidFill>
                          <a:latin typeface="Bookman Old Style"/>
                        </a:rPr>
                        <a:t>17, 52</a:t>
                      </a:r>
                    </a:p>
                  </a:txBody>
                  <a:tcPr marL="73152" marR="73152" marT="36576" marB="36576" anchor="ctr">
                    <a:solidFill>
                      <a:srgbClr val="FFFFFF"/>
                    </a:solidFill>
                  </a:tcPr>
                </a:tc>
                <a:tc>
                  <a:txBody>
                    <a:bodyPr wrap="square"/>
                    <a:lstStyle/>
                    <a:p>
                      <a:r>
                        <a:rPr sz="1500" b="1">
                          <a:solidFill>
                            <a:srgbClr val="C00000"/>
                          </a:solidFill>
                          <a:latin typeface="Bookman Old Style"/>
                        </a:rPr>
                        <a:t>3</a:t>
                      </a:r>
                      <a:r>
                        <a:rPr sz="1500" b="0">
                          <a:solidFill>
                            <a:srgbClr val="002060"/>
                          </a:solidFill>
                          <a:latin typeface="Bookman Old Style"/>
                        </a:rPr>
                        <a:t>, 38</a:t>
                      </a:r>
                    </a:p>
                  </a:txBody>
                  <a:tcPr marL="73152" marR="73152" marT="36576" marB="36576" anchor="ctr">
                    <a:solidFill>
                      <a:srgbClr val="FFFFFF"/>
                    </a:solidFill>
                  </a:tcPr>
                </a:tc>
              </a:tr>
            </a:tbl>
          </a:graphicData>
        </a:graphic>
      </p:graphicFrame>
      <p:sp>
        <p:nvSpPr>
          <p:cNvPr id="7" name="TextBox 6"/>
          <p:cNvSpPr txBox="1"/>
          <p:nvPr/>
        </p:nvSpPr>
        <p:spPr>
          <a:xfrm>
            <a:off x="365760" y="5212080"/>
            <a:ext cx="7040880" cy="914400"/>
          </a:xfrm>
          <a:prstGeom prst="rect">
            <a:avLst/>
          </a:prstGeom>
          <a:noFill/>
        </p:spPr>
        <p:txBody>
          <a:bodyPr wrap="square" anchor="t" lIns="45720" rIns="45720" tIns="27432" bIns="27432">
            <a:spAutoFit/>
          </a:bodyPr>
          <a:lstStyle/>
          <a:p>
            <a:pPr algn="l"/>
            <a:r>
              <a:rPr sz="1600" b="0" i="0">
                <a:solidFill>
                  <a:srgbClr val="002060"/>
                </a:solidFill>
                <a:latin typeface="Bookman Old Style"/>
              </a:rPr>
              <a:t>Each word found in the index suggests where the whole piece starts. Every suggested start is inserted into a BST: the same start lands on the same node, so its count is its vote.</a:t>
            </a:r>
          </a:p>
        </p:txBody>
      </p:sp>
      <p:sp>
        <p:nvSpPr>
          <p:cNvPr id="8" name="TextBox 7"/>
          <p:cNvSpPr txBox="1"/>
          <p:nvPr/>
        </p:nvSpPr>
        <p:spPr>
          <a:xfrm>
            <a:off x="7772400" y="1051560"/>
            <a:ext cx="4023360" cy="411480"/>
          </a:xfrm>
          <a:prstGeom prst="rect">
            <a:avLst/>
          </a:prstGeom>
          <a:noFill/>
        </p:spPr>
        <p:txBody>
          <a:bodyPr wrap="square" anchor="t" lIns="45720" rIns="45720" tIns="27432" bIns="27432">
            <a:spAutoFit/>
          </a:bodyPr>
          <a:lstStyle/>
          <a:p>
            <a:pPr algn="l"/>
            <a:r>
              <a:rPr sz="1800" b="1" i="0">
                <a:solidFill>
                  <a:srgbClr val="002060"/>
                </a:solidFill>
                <a:latin typeface="Bookman Old Style"/>
              </a:rPr>
              <a:t>BST of suggested starts</a:t>
            </a:r>
          </a:p>
        </p:txBody>
      </p:sp>
      <p:cxnSp>
        <p:nvCxnSpPr>
          <p:cNvPr id="9" name="Connector 8"/>
          <p:cNvCxnSpPr/>
          <p:nvPr/>
        </p:nvCxnSpPr>
        <p:spPr>
          <a:xfrm>
            <a:off x="8823960" y="1874519"/>
            <a:ext cx="1508760" cy="1051561"/>
          </a:xfrm>
          <a:prstGeom prst="line">
            <a:avLst/>
          </a:prstGeom>
          <a:ln w="25400">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281160" y="2926080"/>
            <a:ext cx="1051560" cy="1005840"/>
          </a:xfrm>
          <a:prstGeom prst="line">
            <a:avLst/>
          </a:prstGeom>
          <a:ln w="25400">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332720" y="2926080"/>
            <a:ext cx="822960" cy="1005840"/>
          </a:xfrm>
          <a:prstGeom prst="line">
            <a:avLst/>
          </a:prstGeom>
          <a:ln w="25400">
            <a:solidFill>
              <a:srgbClr val="002060"/>
            </a:solidFill>
          </a:ln>
        </p:spPr>
        <p:style>
          <a:lnRef idx="2">
            <a:schemeClr val="accent1"/>
          </a:lnRef>
          <a:fillRef idx="0">
            <a:schemeClr val="accent1"/>
          </a:fillRef>
          <a:effectRef idx="1">
            <a:schemeClr val="accent1"/>
          </a:effectRef>
          <a:fontRef idx="minor">
            <a:schemeClr val="tx1"/>
          </a:fontRef>
        </p:style>
      </p:cxnSp>
      <p:sp>
        <p:nvSpPr>
          <p:cNvPr id="12" name="BST node start 3"/>
          <p:cNvSpPr/>
          <p:nvPr/>
        </p:nvSpPr>
        <p:spPr>
          <a:xfrm>
            <a:off x="8165592" y="1508760"/>
            <a:ext cx="1316736" cy="731520"/>
          </a:xfrm>
          <a:prstGeom prst="ellipse">
            <a:avLst/>
          </a:prstGeom>
          <a:solidFill>
            <a:srgbClr val="002060"/>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r>
              <a:rPr sz="1300" b="1">
                <a:solidFill>
                  <a:srgbClr val="FFFFFF"/>
                </a:solidFill>
                <a:latin typeface="Bookman Old Style"/>
              </a:rPr>
              <a:t>start 3</a:t>
            </a:r>
          </a:p>
          <a:p>
            <a:pPr algn="ctr"/>
            <a:r>
              <a:rPr sz="1100" b="0">
                <a:solidFill>
                  <a:srgbClr val="FFFFFF"/>
                </a:solidFill>
                <a:latin typeface="Bookman Old Style"/>
              </a:rPr>
              <a:t>5 votes</a:t>
            </a:r>
          </a:p>
        </p:txBody>
      </p:sp>
      <p:sp>
        <p:nvSpPr>
          <p:cNvPr id="13" name="BST node start 26"/>
          <p:cNvSpPr/>
          <p:nvPr/>
        </p:nvSpPr>
        <p:spPr>
          <a:xfrm>
            <a:off x="9674352" y="2560320"/>
            <a:ext cx="1316736" cy="731520"/>
          </a:xfrm>
          <a:prstGeom prst="ellipse">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r>
              <a:rPr sz="1300" b="1">
                <a:solidFill>
                  <a:srgbClr val="002060"/>
                </a:solidFill>
                <a:latin typeface="Bookman Old Style"/>
              </a:rPr>
              <a:t>start 26</a:t>
            </a:r>
          </a:p>
          <a:p>
            <a:pPr algn="ctr"/>
            <a:r>
              <a:rPr sz="1100" b="0">
                <a:solidFill>
                  <a:srgbClr val="002060"/>
                </a:solidFill>
                <a:latin typeface="Bookman Old Style"/>
              </a:rPr>
              <a:t>1 vote</a:t>
            </a:r>
          </a:p>
        </p:txBody>
      </p:sp>
      <p:sp>
        <p:nvSpPr>
          <p:cNvPr id="14" name="BST node start 15"/>
          <p:cNvSpPr/>
          <p:nvPr/>
        </p:nvSpPr>
        <p:spPr>
          <a:xfrm>
            <a:off x="8622792" y="3566160"/>
            <a:ext cx="1316736" cy="731520"/>
          </a:xfrm>
          <a:prstGeom prst="ellipse">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r>
              <a:rPr sz="1300" b="1">
                <a:solidFill>
                  <a:srgbClr val="002060"/>
                </a:solidFill>
                <a:latin typeface="Bookman Old Style"/>
              </a:rPr>
              <a:t>start 15</a:t>
            </a:r>
          </a:p>
          <a:p>
            <a:pPr algn="ctr"/>
            <a:r>
              <a:rPr sz="1100" b="0">
                <a:solidFill>
                  <a:srgbClr val="002060"/>
                </a:solidFill>
                <a:latin typeface="Bookman Old Style"/>
              </a:rPr>
              <a:t>1 vote</a:t>
            </a:r>
          </a:p>
        </p:txBody>
      </p:sp>
      <p:sp>
        <p:nvSpPr>
          <p:cNvPr id="15" name="BST node start 38"/>
          <p:cNvSpPr/>
          <p:nvPr/>
        </p:nvSpPr>
        <p:spPr>
          <a:xfrm>
            <a:off x="10497311" y="3566160"/>
            <a:ext cx="1316736" cy="731520"/>
          </a:xfrm>
          <a:prstGeom prst="ellipse">
            <a:avLst/>
          </a:prstGeom>
          <a:solidFill>
            <a:srgbClr val="FFFFFF"/>
          </a:solidFill>
          <a:ln w="158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r>
              <a:rPr sz="1300" b="1">
                <a:solidFill>
                  <a:srgbClr val="002060"/>
                </a:solidFill>
                <a:latin typeface="Bookman Old Style"/>
              </a:rPr>
              <a:t>start 38</a:t>
            </a:r>
          </a:p>
          <a:p>
            <a:pPr algn="ctr"/>
            <a:r>
              <a:rPr sz="1100" b="0">
                <a:solidFill>
                  <a:srgbClr val="002060"/>
                </a:solidFill>
                <a:latin typeface="Bookman Old Style"/>
              </a:rPr>
              <a:t>1 vote</a:t>
            </a:r>
          </a:p>
        </p:txBody>
      </p:sp>
      <p:sp>
        <p:nvSpPr>
          <p:cNvPr id="16" name="Result callout"/>
          <p:cNvSpPr/>
          <p:nvPr/>
        </p:nvSpPr>
        <p:spPr>
          <a:xfrm>
            <a:off x="7772400" y="4572000"/>
            <a:ext cx="4023360" cy="155448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1400" b="1">
                <a:solidFill>
                  <a:srgbClr val="002060"/>
                </a:solidFill>
                <a:latin typeface="Bookman Old Style"/>
              </a:rPr>
              <a:t>Smaller goes left, larger goes right, equal adds 1 to the count.</a:t>
            </a:r>
          </a:p>
          <a:p>
            <a:pPr algn="l"/>
            <a:r>
              <a:rPr sz="1400" b="0">
                <a:solidFill>
                  <a:srgbClr val="002060"/>
                </a:solidFill>
                <a:latin typeface="Bookman Old Style"/>
              </a:rPr>
              <a:t>Winner: start 3 with 5 votes. All 20 letters are then compared there: 1 difference, so a candidate mutation.</a:t>
            </a:r>
          </a:p>
        </p:txBody>
      </p:sp>
    </p:spTree>
    <p:extLst>
      <p:ext uri="{BB962C8B-B14F-4D97-AF65-F5344CB8AC3E}">
        <p14:creationId xmlns:p14="http://schemas.microsoft.com/office/powerpoint/2010/main" val="213507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11</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1737360" y="0"/>
            <a:ext cx="9509760"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600" dirty="0"/>
              <a:t>Methodology: Benchmark Design</a:t>
            </a:r>
          </a:p>
        </p:txBody>
      </p:sp>
      <p:graphicFrame>
        <p:nvGraphicFramePr>
          <p:cNvPr id="6" name="Benchmark table"/>
          <p:cNvGraphicFramePr>
            <a:graphicFrameLocks noGrp="1"/>
          </p:cNvGraphicFramePr>
          <p:nvPr/>
        </p:nvGraphicFramePr>
        <p:xfrm>
          <a:off x="365760" y="1097280"/>
          <a:ext cx="11430000" cy="3749040"/>
        </p:xfrm>
        <a:graphic>
          <a:graphicData uri="http://schemas.openxmlformats.org/drawingml/2006/table">
            <a:tbl>
              <a:tblPr firstRow="1" bandRow="1">
                <a:tableStyleId>{5C22544A-7EE6-4342-B048-85BDC9FD1C3A}</a:tableStyleId>
              </a:tblPr>
              <a:tblGrid>
                <a:gridCol w="2286000"/>
                <a:gridCol w="4937760"/>
                <a:gridCol w="4206240"/>
              </a:tblGrid>
              <a:tr h="749808">
                <a:tc>
                  <a:txBody>
                    <a:bodyPr wrap="square"/>
                    <a:lstStyle/>
                    <a:p>
                      <a:r>
                        <a:rPr sz="1500" b="1">
                          <a:solidFill>
                            <a:srgbClr val="FFFFFF"/>
                          </a:solidFill>
                          <a:latin typeface="Bookman Old Style"/>
                        </a:rPr>
                        <a:t>Experiment</a:t>
                      </a:r>
                    </a:p>
                  </a:txBody>
                  <a:tcPr marL="73152" marR="73152" marT="36576" marB="36576" anchor="ctr">
                    <a:solidFill>
                      <a:srgbClr val="002060"/>
                    </a:solidFill>
                  </a:tcPr>
                </a:tc>
                <a:tc>
                  <a:txBody>
                    <a:bodyPr wrap="square"/>
                    <a:lstStyle/>
                    <a:p>
                      <a:r>
                        <a:rPr sz="1500" b="1">
                          <a:solidFill>
                            <a:srgbClr val="FFFFFF"/>
                          </a:solidFill>
                          <a:latin typeface="Bookman Old Style"/>
                        </a:rPr>
                        <a:t>What we change</a:t>
                      </a:r>
                    </a:p>
                  </a:txBody>
                  <a:tcPr marL="73152" marR="73152" marT="36576" marB="36576" anchor="ctr">
                    <a:solidFill>
                      <a:srgbClr val="002060"/>
                    </a:solidFill>
                  </a:tcPr>
                </a:tc>
                <a:tc>
                  <a:txBody>
                    <a:bodyPr wrap="square"/>
                    <a:lstStyle/>
                    <a:p>
                      <a:r>
                        <a:rPr sz="1500" b="1">
                          <a:solidFill>
                            <a:srgbClr val="FFFFFF"/>
                          </a:solidFill>
                          <a:latin typeface="Bookman Old Style"/>
                        </a:rPr>
                        <a:t>What we measure</a:t>
                      </a:r>
                    </a:p>
                  </a:txBody>
                  <a:tcPr marL="73152" marR="73152" marT="36576" marB="36576" anchor="ctr">
                    <a:solidFill>
                      <a:srgbClr val="002060"/>
                    </a:solidFill>
                  </a:tcPr>
                </a:tc>
              </a:tr>
              <a:tr h="749808">
                <a:tc>
                  <a:txBody>
                    <a:bodyPr wrap="square"/>
                    <a:lstStyle/>
                    <a:p>
                      <a:r>
                        <a:rPr sz="1500" b="1">
                          <a:solidFill>
                            <a:srgbClr val="002060"/>
                          </a:solidFill>
                          <a:latin typeface="Bookman Old Style"/>
                        </a:rPr>
                        <a:t>Typo rate</a:t>
                      </a:r>
                    </a:p>
                  </a:txBody>
                  <a:tcPr marL="73152" marR="73152" marT="36576" marB="36576" anchor="ctr">
                    <a:solidFill>
                      <a:srgbClr val="FFFFFF"/>
                    </a:solidFill>
                  </a:tcPr>
                </a:tc>
                <a:tc>
                  <a:txBody>
                    <a:bodyPr wrap="square"/>
                    <a:lstStyle/>
                    <a:p>
                      <a:r>
                        <a:rPr sz="1500" b="0">
                          <a:solidFill>
                            <a:srgbClr val="002060"/>
                          </a:solidFill>
                          <a:latin typeface="Bookman Old Style"/>
                        </a:rPr>
                        <a:t>0%, 0.1%, 0.5%, 1% and 2%, each with 10 random seeds</a:t>
                      </a:r>
                    </a:p>
                  </a:txBody>
                  <a:tcPr marL="73152" marR="73152" marT="36576" marB="36576" anchor="ctr">
                    <a:solidFill>
                      <a:srgbClr val="FFFFFF"/>
                    </a:solidFill>
                  </a:tcPr>
                </a:tc>
                <a:tc>
                  <a:txBody>
                    <a:bodyPr wrap="square"/>
                    <a:lstStyle/>
                    <a:p>
                      <a:r>
                        <a:rPr sz="1500" b="0">
                          <a:solidFill>
                            <a:srgbClr val="002060"/>
                          </a:solidFill>
                          <a:latin typeface="Bookman Old Style"/>
                        </a:rPr>
                        <a:t>Precision, recall and false alarms; which stage loses accuracy first</a:t>
                      </a:r>
                    </a:p>
                  </a:txBody>
                  <a:tcPr marL="73152" marR="73152" marT="36576" marB="36576" anchor="ctr">
                    <a:solidFill>
                      <a:srgbClr val="FFFFFF"/>
                    </a:solidFill>
                  </a:tcPr>
                </a:tc>
              </a:tr>
              <a:tr h="749808">
                <a:tc>
                  <a:txBody>
                    <a:bodyPr wrap="square"/>
                    <a:lstStyle/>
                    <a:p>
                      <a:r>
                        <a:rPr sz="1500" b="1">
                          <a:solidFill>
                            <a:srgbClr val="002060"/>
                          </a:solidFill>
                          <a:latin typeface="Bookman Old Style"/>
                        </a:rPr>
                        <a:t>Word and window size</a:t>
                      </a:r>
                    </a:p>
                  </a:txBody>
                  <a:tcPr marL="73152" marR="73152" marT="36576" marB="36576" anchor="ctr">
                    <a:solidFill>
                      <a:srgbClr val="E8ECF5"/>
                    </a:solidFill>
                  </a:tcPr>
                </a:tc>
                <a:tc>
                  <a:txBody>
                    <a:bodyPr wrap="square"/>
                    <a:lstStyle/>
                    <a:p>
                      <a:r>
                        <a:rPr sz="1500" b="0">
                          <a:solidFill>
                            <a:srgbClr val="002060"/>
                          </a:solidFill>
                          <a:latin typeface="Bookman Old Style"/>
                        </a:rPr>
                        <a:t>A 3 x 3 grid: word size 7, 11, 15 and window 3, 5, 10</a:t>
                      </a:r>
                    </a:p>
                  </a:txBody>
                  <a:tcPr marL="73152" marR="73152" marT="36576" marB="36576" anchor="ctr">
                    <a:solidFill>
                      <a:srgbClr val="E8ECF5"/>
                    </a:solidFill>
                  </a:tcPr>
                </a:tc>
                <a:tc>
                  <a:txBody>
                    <a:bodyPr wrap="square"/>
                    <a:lstStyle/>
                    <a:p>
                      <a:r>
                        <a:rPr sz="1500" b="0">
                          <a:solidFill>
                            <a:srgbClr val="002060"/>
                          </a:solidFill>
                          <a:latin typeface="Bookman Old Style"/>
                        </a:rPr>
                        <a:t>Pieces placed, accuracy, time and memory</a:t>
                      </a:r>
                    </a:p>
                  </a:txBody>
                  <a:tcPr marL="73152" marR="73152" marT="36576" marB="36576" anchor="ctr">
                    <a:solidFill>
                      <a:srgbClr val="E8ECF5"/>
                    </a:solidFill>
                  </a:tcPr>
                </a:tc>
              </a:tr>
              <a:tr h="749808">
                <a:tc>
                  <a:txBody>
                    <a:bodyPr wrap="square"/>
                    <a:lstStyle/>
                    <a:p>
                      <a:r>
                        <a:rPr sz="1500" b="1">
                          <a:solidFill>
                            <a:srgbClr val="002060"/>
                          </a:solidFill>
                          <a:latin typeface="Bookman Old Style"/>
                        </a:rPr>
                        <a:t>Vote strictness</a:t>
                      </a:r>
                    </a:p>
                  </a:txBody>
                  <a:tcPr marL="73152" marR="73152" marT="36576" marB="36576" anchor="ctr">
                    <a:solidFill>
                      <a:srgbClr val="FFFFFF"/>
                    </a:solidFill>
                  </a:tcPr>
                </a:tc>
                <a:tc>
                  <a:txBody>
                    <a:bodyPr wrap="square"/>
                    <a:lstStyle/>
                    <a:p>
                      <a:r>
                        <a:rPr sz="1500" b="0">
                          <a:solidFill>
                            <a:srgbClr val="002060"/>
                          </a:solidFill>
                          <a:latin typeface="Bookman Old Style"/>
                        </a:rPr>
                        <a:t>Share of pieces that must disagree: 50% to 80%</a:t>
                      </a:r>
                    </a:p>
                  </a:txBody>
                  <a:tcPr marL="73152" marR="73152" marT="36576" marB="36576" anchor="ctr">
                    <a:solidFill>
                      <a:srgbClr val="FFFFFF"/>
                    </a:solidFill>
                  </a:tcPr>
                </a:tc>
                <a:tc>
                  <a:txBody>
                    <a:bodyPr wrap="square"/>
                    <a:lstStyle/>
                    <a:p>
                      <a:r>
                        <a:rPr sz="1500" b="0">
                          <a:solidFill>
                            <a:srgbClr val="002060"/>
                          </a:solidFill>
                          <a:latin typeface="Bookman Old Style"/>
                        </a:rPr>
                        <a:t>False alarms against missed changes</a:t>
                      </a:r>
                    </a:p>
                  </a:txBody>
                  <a:tcPr marL="73152" marR="73152" marT="36576" marB="36576" anchor="ctr">
                    <a:solidFill>
                      <a:srgbClr val="FFFFFF"/>
                    </a:solidFill>
                  </a:tcPr>
                </a:tc>
              </a:tr>
              <a:tr h="749808">
                <a:tc>
                  <a:txBody>
                    <a:bodyPr wrap="square"/>
                    <a:lstStyle/>
                    <a:p>
                      <a:r>
                        <a:rPr sz="1500" b="1">
                          <a:solidFill>
                            <a:srgbClr val="002060"/>
                          </a:solidFill>
                          <a:latin typeface="Bookman Old Style"/>
                        </a:rPr>
                        <a:t>Genome size</a:t>
                      </a:r>
                    </a:p>
                  </a:txBody>
                  <a:tcPr marL="73152" marR="73152" marT="36576" marB="36576" anchor="ctr">
                    <a:solidFill>
                      <a:srgbClr val="E8ECF5"/>
                    </a:solidFill>
                  </a:tcPr>
                </a:tc>
                <a:tc>
                  <a:txBody>
                    <a:bodyPr wrap="square"/>
                    <a:lstStyle/>
                    <a:p>
                      <a:r>
                        <a:rPr sz="1500" b="0">
                          <a:solidFill>
                            <a:srgbClr val="002060"/>
                          </a:solidFill>
                          <a:latin typeface="Bookman Old Style"/>
                        </a:rPr>
                        <a:t>From 10,000 letters up to 100,000 or more</a:t>
                      </a:r>
                    </a:p>
                  </a:txBody>
                  <a:tcPr marL="73152" marR="73152" marT="36576" marB="36576" anchor="ctr">
                    <a:solidFill>
                      <a:srgbClr val="E8ECF5"/>
                    </a:solidFill>
                  </a:tcPr>
                </a:tc>
                <a:tc>
                  <a:txBody>
                    <a:bodyPr wrap="square"/>
                    <a:lstStyle/>
                    <a:p>
                      <a:r>
                        <a:rPr sz="1500" b="0">
                          <a:solidFill>
                            <a:srgbClr val="002060"/>
                          </a:solidFill>
                          <a:latin typeface="Bookman Old Style"/>
                        </a:rPr>
                        <a:t>Time and memory, against a naive scan of every position</a:t>
                      </a:r>
                    </a:p>
                  </a:txBody>
                  <a:tcPr marL="73152" marR="73152" marT="36576" marB="36576" anchor="ctr">
                    <a:solidFill>
                      <a:srgbClr val="E8ECF5"/>
                    </a:solidFill>
                  </a:tcPr>
                </a:tc>
              </a:tr>
            </a:tbl>
          </a:graphicData>
        </a:graphic>
      </p:graphicFrame>
      <p:sp>
        <p:nvSpPr>
          <p:cNvPr id="7" name="Benchmark callout"/>
          <p:cNvSpPr/>
          <p:nvPr/>
        </p:nvSpPr>
        <p:spPr>
          <a:xfrm>
            <a:off x="365760" y="5074920"/>
            <a:ext cx="11430000" cy="1143000"/>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lstStyle/>
          <a:p>
            <a:pPr algn="ctr"/>
            <a:r>
              <a:rPr sz="1700" b="1">
                <a:solidFill>
                  <a:srgbClr val="FFFFFF"/>
                </a:solidFill>
                <a:latin typeface="Bookman Old Style"/>
              </a:rPr>
              <a:t>Every run uses test data where the right answers are known, with fixed seeds and results saved to CSV, so it can be repeated.</a:t>
            </a:r>
          </a:p>
          <a:p>
            <a:pPr algn="ctr"/>
            <a:r>
              <a:rPr sz="1700" b="0">
                <a:solidFill>
                  <a:srgbClr val="FFFFFF"/>
                </a:solidFill>
                <a:latin typeface="Bookman Old Style"/>
              </a:rPr>
              <a:t>The results will be written up as a research paper.</a:t>
            </a:r>
          </a:p>
        </p:txBody>
      </p:sp>
    </p:spTree>
    <p:extLst>
      <p:ext uri="{BB962C8B-B14F-4D97-AF65-F5344CB8AC3E}">
        <p14:creationId xmlns:p14="http://schemas.microsoft.com/office/powerpoint/2010/main" val="213507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548640" y="1005840"/>
            <a:ext cx="11064240" cy="3291840"/>
          </a:xfrm>
        </p:spPr>
        <p:txBody>
          <a:bodyPr wrap="square">
            <a:noAutofit/>
          </a:bodyPr>
          <a:lstStyle/>
          <a:p>
            <a:pPr>
              <a:spcAft>
                <a:spcPts val="600"/>
              </a:spcAft>
            </a:pPr>
            <a:r>
              <a:rPr b="1" sz="1800">
                <a:solidFill>
                  <a:srgbClr val="002060"/>
                </a:solidFill>
              </a:rPr>
              <a:t>Expected Results: </a:t>
            </a:r>
            <a:r>
              <a:rPr sz="1800">
                <a:solidFill>
                  <a:srgbClr val="002060"/>
                </a:solidFill>
              </a:rPr>
              <a:t>Finds the planted changes, ignores typos, and beats checking every position. We report precision, recall, time and memory.</a:t>
            </a:r>
          </a:p>
          <a:p>
            <a:pPr>
              <a:spcAft>
                <a:spcPts val="600"/>
              </a:spcAft>
            </a:pPr>
            <a:r>
              <a:rPr b="1" sz="1800">
                <a:solidFill>
                  <a:srgbClr val="002060"/>
                </a:solidFill>
              </a:rPr>
              <a:t>Research Output: </a:t>
            </a:r>
            <a:r>
              <a:rPr sz="1800">
                <a:solidFill>
                  <a:srgbClr val="002060"/>
                </a:solidFill>
              </a:rPr>
              <a:t>A reproducible benchmark and a research paper: draft by the end of the semester, full paper after.</a:t>
            </a:r>
          </a:p>
          <a:p>
            <a:pPr>
              <a:spcAft>
                <a:spcPts val="600"/>
              </a:spcAft>
            </a:pPr>
            <a:r>
              <a:rPr b="1" sz="1800">
                <a:solidFill>
                  <a:srgbClr val="002060"/>
                </a:solidFill>
              </a:rPr>
              <a:t>Potential Impact: </a:t>
            </a:r>
            <a:r>
              <a:rPr sz="1800">
                <a:solidFill>
                  <a:srgbClr val="002060"/>
                </a:solidFill>
              </a:rPr>
              <a:t>A small, transparent reference implementation for teaching and quick experiments.</a:t>
            </a:r>
          </a:p>
          <a:p>
            <a:pPr>
              <a:spcAft>
                <a:spcPts val="600"/>
              </a:spcAft>
            </a:pPr>
            <a:r>
              <a:rPr b="1" sz="1800">
                <a:solidFill>
                  <a:srgbClr val="002060"/>
                </a:solidFill>
              </a:rPr>
              <a:t>Future Directions: </a:t>
            </a:r>
            <a:r>
              <a:rPr sz="1800">
                <a:solidFill>
                  <a:srgbClr val="002060"/>
                </a:solidFill>
              </a:rPr>
              <a:t>Inserted and deleted letters, larger genomes, real sequencing files.</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12</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Proposed Outcomes</a:t>
            </a:r>
          </a:p>
        </p:txBody>
      </p:sp>
      <p:sp>
        <p:nvSpPr>
          <p:cNvPr id="6" name="TextBox 5"/>
          <p:cNvSpPr txBox="1"/>
          <p:nvPr/>
        </p:nvSpPr>
        <p:spPr>
          <a:xfrm>
            <a:off x="548640" y="4297680"/>
            <a:ext cx="10972800" cy="365760"/>
          </a:xfrm>
          <a:prstGeom prst="rect">
            <a:avLst/>
          </a:prstGeom>
          <a:noFill/>
        </p:spPr>
        <p:txBody>
          <a:bodyPr wrap="square" anchor="t" lIns="45720" rIns="45720" tIns="27432" bIns="27432">
            <a:spAutoFit/>
          </a:bodyPr>
          <a:lstStyle/>
          <a:p>
            <a:pPr algn="l"/>
            <a:r>
              <a:rPr sz="1500" b="0" i="1">
                <a:solidFill>
                  <a:srgbClr val="002060"/>
                </a:solidFill>
                <a:latin typeface="Bookman Old Style"/>
              </a:rPr>
              <a:t>Prototype run so far: a 56-letter test genome with 2 planted changes and 3 typos</a:t>
            </a:r>
          </a:p>
        </p:txBody>
      </p:sp>
      <p:sp>
        <p:nvSpPr>
          <p:cNvPr id="7" name="Result 1"/>
          <p:cNvSpPr/>
          <p:nvPr/>
        </p:nvSpPr>
        <p:spPr>
          <a:xfrm>
            <a:off x="411480" y="4709160"/>
            <a:ext cx="3611880" cy="141732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3200" b="1">
                <a:solidFill>
                  <a:srgbClr val="C00000"/>
                </a:solidFill>
                <a:latin typeface="Bookman Old Style"/>
              </a:rPr>
              <a:t>2 of 2</a:t>
            </a:r>
          </a:p>
          <a:p>
            <a:pPr algn="ctr"/>
            <a:r>
              <a:rPr sz="1500" b="0">
                <a:solidFill>
                  <a:srgbClr val="002060"/>
                </a:solidFill>
                <a:latin typeface="Bookman Old Style"/>
              </a:rPr>
              <a:t>planted changes found</a:t>
            </a:r>
          </a:p>
        </p:txBody>
      </p:sp>
      <p:sp>
        <p:nvSpPr>
          <p:cNvPr id="8" name="Result 2"/>
          <p:cNvSpPr/>
          <p:nvPr/>
        </p:nvSpPr>
        <p:spPr>
          <a:xfrm>
            <a:off x="4297680" y="4709160"/>
            <a:ext cx="3611880" cy="141732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3200" b="1">
                <a:solidFill>
                  <a:srgbClr val="C00000"/>
                </a:solidFill>
                <a:latin typeface="Bookman Old Style"/>
              </a:rPr>
              <a:t>0</a:t>
            </a:r>
          </a:p>
          <a:p>
            <a:pPr algn="ctr"/>
            <a:r>
              <a:rPr sz="1500" b="0">
                <a:solidFill>
                  <a:srgbClr val="002060"/>
                </a:solidFill>
                <a:latin typeface="Bookman Old Style"/>
              </a:rPr>
              <a:t>false alarms</a:t>
            </a:r>
          </a:p>
        </p:txBody>
      </p:sp>
      <p:sp>
        <p:nvSpPr>
          <p:cNvPr id="9" name="Result 3"/>
          <p:cNvSpPr/>
          <p:nvPr/>
        </p:nvSpPr>
        <p:spPr>
          <a:xfrm>
            <a:off x="8183879" y="4709160"/>
            <a:ext cx="3611880" cy="141732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3200" b="1">
                <a:solidFill>
                  <a:srgbClr val="C00000"/>
                </a:solidFill>
                <a:latin typeface="Bookman Old Style"/>
              </a:rPr>
              <a:t>3</a:t>
            </a:r>
          </a:p>
          <a:p>
            <a:pPr algn="ctr"/>
            <a:r>
              <a:rPr sz="1500" b="0">
                <a:solidFill>
                  <a:srgbClr val="002060"/>
                </a:solidFill>
                <a:latin typeface="Bookman Old Style"/>
              </a:rPr>
              <a:t>typos outvoted and ignored</a:t>
            </a:r>
          </a:p>
        </p:txBody>
      </p:sp>
    </p:spTree>
    <p:extLst>
      <p:ext uri="{BB962C8B-B14F-4D97-AF65-F5344CB8AC3E}">
        <p14:creationId xmlns:p14="http://schemas.microsoft.com/office/powerpoint/2010/main" val="4121727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13</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Timeline of the project</a:t>
            </a:r>
          </a:p>
        </p:txBody>
      </p:sp>
      <p:sp>
        <p:nvSpPr>
          <p:cNvPr id="6" name="Phase 1 card"/>
          <p:cNvSpPr/>
          <p:nvPr/>
        </p:nvSpPr>
        <p:spPr>
          <a:xfrm>
            <a:off x="411480" y="1554480"/>
            <a:ext cx="2697480" cy="329184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1500" b="1">
                <a:solidFill>
                  <a:srgbClr val="C00000"/>
                </a:solidFill>
                <a:latin typeface="Bookman Old Style"/>
              </a:rPr>
              <a:t>Phase 1</a:t>
            </a:r>
          </a:p>
          <a:p>
            <a:pPr algn="l"/>
            <a:r>
              <a:rPr sz="1300" b="0">
                <a:solidFill>
                  <a:srgbClr val="002060"/>
                </a:solidFill>
                <a:latin typeface="Bookman Old Style"/>
              </a:rPr>
              <a:t>Weeks 1-2</a:t>
            </a:r>
          </a:p>
          <a:p>
            <a:pPr algn="l"/>
            <a:r>
              <a:rPr sz="800" b="0">
                <a:solidFill>
                  <a:srgbClr val="002060"/>
                </a:solidFill>
                <a:latin typeface="Bookman Old Style"/>
              </a:rPr>
              <a:t> </a:t>
            </a:r>
          </a:p>
          <a:p>
            <a:pPr algn="l"/>
            <a:r>
              <a:rPr sz="2400" b="1">
                <a:solidFill>
                  <a:srgbClr val="002060"/>
                </a:solidFill>
                <a:latin typeface="Bookman Old Style"/>
              </a:rPr>
              <a:t>Foundations</a:t>
            </a:r>
          </a:p>
          <a:p>
            <a:pPr algn="l"/>
            <a:r>
              <a:rPr sz="800" b="0">
                <a:solidFill>
                  <a:srgbClr val="002060"/>
                </a:solidFill>
                <a:latin typeface="Bookman Old Style"/>
              </a:rPr>
              <a:t> </a:t>
            </a:r>
          </a:p>
          <a:p>
            <a:pPr algn="l"/>
            <a:r>
              <a:rPr sz="1800" b="0">
                <a:solidFill>
                  <a:srgbClr val="002060"/>
                </a:solidFill>
                <a:latin typeface="Bookman Old Style"/>
              </a:rPr>
              <a:t>Pack letters, pick words, build the hash-table index and the yes / no pre-check</a:t>
            </a:r>
          </a:p>
        </p:txBody>
      </p:sp>
      <p:sp>
        <p:nvSpPr>
          <p:cNvPr id="7" name="Right Arrow 6"/>
          <p:cNvSpPr/>
          <p:nvPr/>
        </p:nvSpPr>
        <p:spPr>
          <a:xfrm>
            <a:off x="3127248" y="3063240"/>
            <a:ext cx="155448" cy="27432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2 card"/>
          <p:cNvSpPr/>
          <p:nvPr/>
        </p:nvSpPr>
        <p:spPr>
          <a:xfrm>
            <a:off x="3310128" y="1554480"/>
            <a:ext cx="2697480" cy="329184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1500" b="1">
                <a:solidFill>
                  <a:srgbClr val="C00000"/>
                </a:solidFill>
                <a:latin typeface="Bookman Old Style"/>
              </a:rPr>
              <a:t>Phase 2</a:t>
            </a:r>
          </a:p>
          <a:p>
            <a:pPr algn="l"/>
            <a:r>
              <a:rPr sz="1300" b="0">
                <a:solidFill>
                  <a:srgbClr val="002060"/>
                </a:solidFill>
                <a:latin typeface="Bookman Old Style"/>
              </a:rPr>
              <a:t>Weeks 3-4</a:t>
            </a:r>
          </a:p>
          <a:p>
            <a:pPr algn="l"/>
            <a:r>
              <a:rPr sz="800" b="0">
                <a:solidFill>
                  <a:srgbClr val="002060"/>
                </a:solidFill>
                <a:latin typeface="Bookman Old Style"/>
              </a:rPr>
              <a:t> </a:t>
            </a:r>
          </a:p>
          <a:p>
            <a:pPr algn="l"/>
            <a:r>
              <a:rPr sz="2400" b="1">
                <a:solidFill>
                  <a:srgbClr val="002060"/>
                </a:solidFill>
                <a:latin typeface="Bookman Old Style"/>
              </a:rPr>
              <a:t>Find the place</a:t>
            </a:r>
          </a:p>
          <a:p>
            <a:pPr algn="l"/>
            <a:r>
              <a:rPr sz="800" b="0">
                <a:solidFill>
                  <a:srgbClr val="002060"/>
                </a:solidFill>
                <a:latin typeface="Bookman Old Style"/>
              </a:rPr>
              <a:t> </a:t>
            </a:r>
          </a:p>
          <a:p>
            <a:pPr algn="l"/>
            <a:r>
              <a:rPr sz="1800" b="0">
                <a:solidFill>
                  <a:srgbClr val="002060"/>
                </a:solidFill>
                <a:latin typeface="Bookman Old Style"/>
              </a:rPr>
              <a:t>BST vote tally, min-heap short-list, verify by comparing letters</a:t>
            </a:r>
          </a:p>
        </p:txBody>
      </p:sp>
      <p:sp>
        <p:nvSpPr>
          <p:cNvPr id="9" name="Right Arrow 8"/>
          <p:cNvSpPr/>
          <p:nvPr/>
        </p:nvSpPr>
        <p:spPr>
          <a:xfrm>
            <a:off x="6025896" y="3063240"/>
            <a:ext cx="155448" cy="27432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hase 3 card"/>
          <p:cNvSpPr/>
          <p:nvPr/>
        </p:nvSpPr>
        <p:spPr>
          <a:xfrm>
            <a:off x="6208776" y="1554480"/>
            <a:ext cx="2697480" cy="329184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1500" b="1">
                <a:solidFill>
                  <a:srgbClr val="C00000"/>
                </a:solidFill>
                <a:latin typeface="Bookman Old Style"/>
              </a:rPr>
              <a:t>Phase 3</a:t>
            </a:r>
          </a:p>
          <a:p>
            <a:pPr algn="l"/>
            <a:r>
              <a:rPr sz="1300" b="0">
                <a:solidFill>
                  <a:srgbClr val="002060"/>
                </a:solidFill>
                <a:latin typeface="Bookman Old Style"/>
              </a:rPr>
              <a:t>Weeks 5-6</a:t>
            </a:r>
          </a:p>
          <a:p>
            <a:pPr algn="l"/>
            <a:r>
              <a:rPr sz="800" b="0">
                <a:solidFill>
                  <a:srgbClr val="002060"/>
                </a:solidFill>
                <a:latin typeface="Bookman Old Style"/>
              </a:rPr>
              <a:t> </a:t>
            </a:r>
          </a:p>
          <a:p>
            <a:pPr algn="l"/>
            <a:r>
              <a:rPr sz="2400" b="1">
                <a:solidFill>
                  <a:srgbClr val="002060"/>
                </a:solidFill>
                <a:latin typeface="Bookman Old Style"/>
              </a:rPr>
              <a:t>Combine and set up</a:t>
            </a:r>
          </a:p>
          <a:p>
            <a:pPr algn="l"/>
            <a:r>
              <a:rPr sz="800" b="0">
                <a:solidFill>
                  <a:srgbClr val="002060"/>
                </a:solidFill>
                <a:latin typeface="Bookman Old Style"/>
              </a:rPr>
              <a:t> </a:t>
            </a:r>
          </a:p>
          <a:p>
            <a:pPr algn="l"/>
            <a:r>
              <a:rPr sz="1800" b="0">
                <a:solidFill>
                  <a:srgbClr val="002060"/>
                </a:solidFill>
                <a:latin typeface="Bookman Old Style"/>
              </a:rPr>
              <a:t>Pile up, score, test data generator, experiment runner that saves CSV results</a:t>
            </a:r>
          </a:p>
        </p:txBody>
      </p:sp>
      <p:sp>
        <p:nvSpPr>
          <p:cNvPr id="11" name="Right Arrow 10"/>
          <p:cNvSpPr/>
          <p:nvPr/>
        </p:nvSpPr>
        <p:spPr>
          <a:xfrm>
            <a:off x="8924544" y="3063240"/>
            <a:ext cx="155448" cy="27432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hase 4 card"/>
          <p:cNvSpPr/>
          <p:nvPr/>
        </p:nvSpPr>
        <p:spPr>
          <a:xfrm>
            <a:off x="9107424" y="1554480"/>
            <a:ext cx="2697480" cy="3291840"/>
          </a:xfrm>
          <a:prstGeom prst="roundRect">
            <a:avLst>
              <a:gd name="adj" fmla="val 8000"/>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1500" b="1">
                <a:solidFill>
                  <a:srgbClr val="C00000"/>
                </a:solidFill>
                <a:latin typeface="Bookman Old Style"/>
              </a:rPr>
              <a:t>Phase 4</a:t>
            </a:r>
          </a:p>
          <a:p>
            <a:pPr algn="l"/>
            <a:r>
              <a:rPr sz="1300" b="0">
                <a:solidFill>
                  <a:srgbClr val="002060"/>
                </a:solidFill>
                <a:latin typeface="Bookman Old Style"/>
              </a:rPr>
              <a:t>Weeks 7-9</a:t>
            </a:r>
          </a:p>
          <a:p>
            <a:pPr algn="l"/>
            <a:r>
              <a:rPr sz="800" b="0">
                <a:solidFill>
                  <a:srgbClr val="002060"/>
                </a:solidFill>
                <a:latin typeface="Bookman Old Style"/>
              </a:rPr>
              <a:t> </a:t>
            </a:r>
          </a:p>
          <a:p>
            <a:pPr algn="l"/>
            <a:r>
              <a:rPr sz="2400" b="1">
                <a:solidFill>
                  <a:srgbClr val="002060"/>
                </a:solidFill>
                <a:latin typeface="Bookman Old Style"/>
              </a:rPr>
              <a:t>Benchmark and write</a:t>
            </a:r>
          </a:p>
          <a:p>
            <a:pPr algn="l"/>
            <a:r>
              <a:rPr sz="800" b="0">
                <a:solidFill>
                  <a:srgbClr val="002060"/>
                </a:solidFill>
                <a:latin typeface="Bookman Old Style"/>
              </a:rPr>
              <a:t> </a:t>
            </a:r>
          </a:p>
          <a:p>
            <a:pPr algn="l"/>
            <a:r>
              <a:rPr sz="1800" b="0">
                <a:solidFill>
                  <a:srgbClr val="002060"/>
                </a:solidFill>
                <a:latin typeface="Bookman Old Style"/>
              </a:rPr>
              <a:t>Run the experiments, make the figures, write the paper draft, final demo</a:t>
            </a:r>
          </a:p>
        </p:txBody>
      </p:sp>
    </p:spTree>
    <p:extLst>
      <p:ext uri="{BB962C8B-B14F-4D97-AF65-F5344CB8AC3E}">
        <p14:creationId xmlns:p14="http://schemas.microsoft.com/office/powerpoint/2010/main" val="1584053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548640" y="1280160"/>
            <a:ext cx="11064240" cy="4572000"/>
          </a:xfrm>
        </p:spPr>
        <p:txBody>
          <a:bodyPr wrap="square">
            <a:noAutofit/>
          </a:bodyPr>
          <a:lstStyle/>
          <a:p>
            <a:pPr>
              <a:spcAft>
                <a:spcPts val="1400"/>
              </a:spcAft>
            </a:pPr>
            <a:r>
              <a:rPr b="1" sz="2200">
                <a:solidFill>
                  <a:srgbClr val="002060"/>
                </a:solidFill>
              </a:rPr>
              <a:t>Summary: </a:t>
            </a:r>
            <a:r>
              <a:rPr sz="2200">
                <a:solidFill>
                  <a:srgbClr val="002060"/>
                </a:solidFill>
              </a:rPr>
              <a:t>A small C tool built from classic data structures, including a BST, a hash table and a heap, plus a benchmarking study of how well it works.</a:t>
            </a:r>
          </a:p>
          <a:p>
            <a:pPr>
              <a:spcAft>
                <a:spcPts val="1400"/>
              </a:spcAft>
            </a:pPr>
            <a:r>
              <a:rPr b="1" sz="2200">
                <a:solidFill>
                  <a:srgbClr val="002060"/>
                </a:solidFill>
              </a:rPr>
              <a:t>Final Thoughts: </a:t>
            </a:r>
            <a:r>
              <a:rPr sz="2200">
                <a:solidFill>
                  <a:srgbClr val="002060"/>
                </a:solidFill>
              </a:rPr>
              <a:t>Every stage is explainable and traceable. No machine learning: the same input always gives the same output.</a:t>
            </a:r>
          </a:p>
          <a:p>
            <a:pPr>
              <a:spcAft>
                <a:spcPts val="1400"/>
              </a:spcAft>
            </a:pPr>
            <a:r>
              <a:rPr b="1" sz="2200">
                <a:solidFill>
                  <a:srgbClr val="002060"/>
                </a:solidFill>
              </a:rPr>
              <a:t>Next Steps: </a:t>
            </a:r>
            <a:r>
              <a:rPr sz="2200">
                <a:solidFill>
                  <a:srgbClr val="002060"/>
                </a:solidFill>
              </a:rPr>
              <a:t>Build it in C, benchmark it on the real coronavirus genome with planted changes, and write the results up as a research paper.</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14</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Conclusion</a:t>
            </a:r>
          </a:p>
        </p:txBody>
      </p:sp>
      <p:sp>
        <p:nvSpPr>
          <p:cNvPr id="6" name="Three steps 1"/>
          <p:cNvSpPr/>
          <p:nvPr/>
        </p:nvSpPr>
        <p:spPr>
          <a:xfrm>
            <a:off x="502920" y="4754880"/>
            <a:ext cx="3200400" cy="1188720"/>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000" b="1">
                <a:solidFill>
                  <a:srgbClr val="FFFFFF"/>
                </a:solidFill>
                <a:latin typeface="Bookman Old Style"/>
              </a:rPr>
              <a:t>Shrink</a:t>
            </a:r>
          </a:p>
          <a:p>
            <a:pPr algn="ctr"/>
            <a:r>
              <a:rPr sz="1400" b="0">
                <a:solidFill>
                  <a:srgbClr val="FFFFFF"/>
                </a:solidFill>
                <a:latin typeface="Bookman Old Style"/>
              </a:rPr>
              <a:t>keep a few words, index them</a:t>
            </a:r>
          </a:p>
        </p:txBody>
      </p:sp>
      <p:sp>
        <p:nvSpPr>
          <p:cNvPr id="7" name="Right Arrow 6"/>
          <p:cNvSpPr/>
          <p:nvPr/>
        </p:nvSpPr>
        <p:spPr>
          <a:xfrm>
            <a:off x="3794760" y="5212080"/>
            <a:ext cx="502920" cy="310896"/>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hree steps 2"/>
          <p:cNvSpPr/>
          <p:nvPr/>
        </p:nvSpPr>
        <p:spPr>
          <a:xfrm>
            <a:off x="4434840" y="4754880"/>
            <a:ext cx="3200400" cy="1188720"/>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000" b="1">
                <a:solidFill>
                  <a:srgbClr val="FFFFFF"/>
                </a:solidFill>
                <a:latin typeface="Bookman Old Style"/>
              </a:rPr>
              <a:t>Find the place</a:t>
            </a:r>
          </a:p>
          <a:p>
            <a:pPr algn="ctr"/>
            <a:r>
              <a:rPr sz="1400" b="0">
                <a:solidFill>
                  <a:srgbClr val="FFFFFF"/>
                </a:solidFill>
                <a:latin typeface="Bookman Old Style"/>
              </a:rPr>
              <a:t>vote and verify each piece</a:t>
            </a:r>
          </a:p>
        </p:txBody>
      </p:sp>
      <p:sp>
        <p:nvSpPr>
          <p:cNvPr id="9" name="Right Arrow 8"/>
          <p:cNvSpPr/>
          <p:nvPr/>
        </p:nvSpPr>
        <p:spPr>
          <a:xfrm>
            <a:off x="7726679" y="5212080"/>
            <a:ext cx="502920" cy="310896"/>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hree steps 3"/>
          <p:cNvSpPr/>
          <p:nvPr/>
        </p:nvSpPr>
        <p:spPr>
          <a:xfrm>
            <a:off x="8366760" y="4754880"/>
            <a:ext cx="3200400" cy="1188720"/>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000" b="1">
                <a:solidFill>
                  <a:srgbClr val="FFFFFF"/>
                </a:solidFill>
                <a:latin typeface="Bookman Old Style"/>
              </a:rPr>
              <a:t>Compare</a:t>
            </a:r>
          </a:p>
          <a:p>
            <a:pPr algn="ctr"/>
            <a:r>
              <a:rPr sz="1400" b="0">
                <a:solidFill>
                  <a:srgbClr val="FFFFFF"/>
                </a:solidFill>
                <a:latin typeface="Bookman Old Style"/>
              </a:rPr>
              <a:t>pieces vote on each letter</a:t>
            </a:r>
          </a:p>
        </p:txBody>
      </p:sp>
    </p:spTree>
    <p:extLst>
      <p:ext uri="{BB962C8B-B14F-4D97-AF65-F5344CB8AC3E}">
        <p14:creationId xmlns:p14="http://schemas.microsoft.com/office/powerpoint/2010/main" val="2237272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548640" y="1097280"/>
            <a:ext cx="11064240" cy="5029200"/>
          </a:xfrm>
        </p:spPr>
        <p:txBody>
          <a:bodyPr wrap="square">
            <a:noAutofit/>
          </a:bodyPr>
          <a:lstStyle/>
          <a:p>
            <a:pPr>
              <a:spcAft>
                <a:spcPts val="600"/>
              </a:spcAft>
            </a:pPr>
            <a:r>
              <a:rPr sz="1500" i="0">
                <a:solidFill>
                  <a:srgbClr val="002060"/>
                </a:solidFill>
              </a:rPr>
              <a:t>Bloom, B. H. (1970). Space/time trade-offs in hash coding with allowable errors. </a:t>
            </a:r>
            <a:r>
              <a:rPr sz="1500" i="1">
                <a:solidFill>
                  <a:srgbClr val="002060"/>
                </a:solidFill>
              </a:rPr>
              <a:t>Communications of the ACM, 13</a:t>
            </a:r>
            <a:r>
              <a:rPr sz="1500" i="0">
                <a:solidFill>
                  <a:srgbClr val="002060"/>
                </a:solidFill>
              </a:rPr>
              <a:t>(7), 422-426.</a:t>
            </a:r>
          </a:p>
          <a:p>
            <a:pPr>
              <a:spcAft>
                <a:spcPts val="600"/>
              </a:spcAft>
            </a:pPr>
            <a:r>
              <a:rPr sz="1500" i="0">
                <a:solidFill>
                  <a:srgbClr val="002060"/>
                </a:solidFill>
              </a:rPr>
              <a:t>Jain, C., et al. (2020). Weighted minimizer sampling improves long read mapping. </a:t>
            </a:r>
            <a:r>
              <a:rPr sz="1500" i="1">
                <a:solidFill>
                  <a:srgbClr val="002060"/>
                </a:solidFill>
              </a:rPr>
              <a:t>Bioinformatics, 36</a:t>
            </a:r>
            <a:r>
              <a:rPr sz="1500" i="0">
                <a:solidFill>
                  <a:srgbClr val="002060"/>
                </a:solidFill>
              </a:rPr>
              <a:t>(Supplement_1), i111-i118.</a:t>
            </a:r>
          </a:p>
          <a:p>
            <a:pPr>
              <a:spcAft>
                <a:spcPts val="600"/>
              </a:spcAft>
            </a:pPr>
            <a:r>
              <a:rPr sz="1500" i="0">
                <a:solidFill>
                  <a:srgbClr val="002060"/>
                </a:solidFill>
              </a:rPr>
              <a:t>Krusche, P., et al. (2019). Best practices for benchmarking germline small-variant calls in human genomes. </a:t>
            </a:r>
            <a:r>
              <a:rPr sz="1500" i="1">
                <a:solidFill>
                  <a:srgbClr val="002060"/>
                </a:solidFill>
              </a:rPr>
              <a:t>Nature Biotechnology, 37</a:t>
            </a:r>
            <a:r>
              <a:rPr sz="1500" i="0">
                <a:solidFill>
                  <a:srgbClr val="002060"/>
                </a:solidFill>
              </a:rPr>
              <a:t>(5), 555-560.</a:t>
            </a:r>
          </a:p>
          <a:p>
            <a:pPr>
              <a:spcAft>
                <a:spcPts val="600"/>
              </a:spcAft>
            </a:pPr>
            <a:r>
              <a:rPr sz="1500" i="0">
                <a:solidFill>
                  <a:srgbClr val="002060"/>
                </a:solidFill>
              </a:rPr>
              <a:t>Langmead, B., &amp; Salzberg, S. L. (2012). Fast gapped-read alignment with Bowtie 2. </a:t>
            </a:r>
            <a:r>
              <a:rPr sz="1500" i="1">
                <a:solidFill>
                  <a:srgbClr val="002060"/>
                </a:solidFill>
              </a:rPr>
              <a:t>Nature Methods, 9</a:t>
            </a:r>
            <a:r>
              <a:rPr sz="1500" i="0">
                <a:solidFill>
                  <a:srgbClr val="002060"/>
                </a:solidFill>
              </a:rPr>
              <a:t>(4), 357-359.</a:t>
            </a:r>
          </a:p>
          <a:p>
            <a:pPr>
              <a:spcAft>
                <a:spcPts val="600"/>
              </a:spcAft>
            </a:pPr>
            <a:r>
              <a:rPr sz="1500" i="0">
                <a:solidFill>
                  <a:srgbClr val="002060"/>
                </a:solidFill>
              </a:rPr>
              <a:t>Li, H. (2018). Minimap2: Pairwise alignment for nucleotide sequences. </a:t>
            </a:r>
            <a:r>
              <a:rPr sz="1500" i="1">
                <a:solidFill>
                  <a:srgbClr val="002060"/>
                </a:solidFill>
              </a:rPr>
              <a:t>Bioinformatics, 34</a:t>
            </a:r>
            <a:r>
              <a:rPr sz="1500" i="0">
                <a:solidFill>
                  <a:srgbClr val="002060"/>
                </a:solidFill>
              </a:rPr>
              <a:t>(18), 3094-3100.</a:t>
            </a:r>
          </a:p>
          <a:p>
            <a:pPr>
              <a:spcAft>
                <a:spcPts val="600"/>
              </a:spcAft>
            </a:pPr>
            <a:r>
              <a:rPr sz="1500" i="0">
                <a:solidFill>
                  <a:srgbClr val="002060"/>
                </a:solidFill>
              </a:rPr>
              <a:t>Li, H., &amp; Durbin, R. (2009). Fast and accurate short read alignment with Burrows-Wheeler transform. </a:t>
            </a:r>
            <a:r>
              <a:rPr sz="1500" i="1">
                <a:solidFill>
                  <a:srgbClr val="002060"/>
                </a:solidFill>
              </a:rPr>
              <a:t>Bioinformatics, 25</a:t>
            </a:r>
            <a:r>
              <a:rPr sz="1500" i="0">
                <a:solidFill>
                  <a:srgbClr val="002060"/>
                </a:solidFill>
              </a:rPr>
              <a:t>(14), 1754-1760.</a:t>
            </a:r>
          </a:p>
          <a:p>
            <a:pPr>
              <a:spcAft>
                <a:spcPts val="600"/>
              </a:spcAft>
            </a:pPr>
            <a:r>
              <a:rPr sz="1500" i="0">
                <a:solidFill>
                  <a:srgbClr val="002060"/>
                </a:solidFill>
              </a:rPr>
              <a:t>National Center for Biotechnology Information. (n.d.). </a:t>
            </a:r>
            <a:r>
              <a:rPr sz="1500" i="1">
                <a:solidFill>
                  <a:srgbClr val="002060"/>
                </a:solidFill>
              </a:rPr>
              <a:t>Severe acute respiratory syndrome coronavirus 2 isolate Wuhan-Hu-1, complete genome (RefSeq NC_045512.2).</a:t>
            </a:r>
            <a:r>
              <a:rPr sz="1500" i="0">
                <a:solidFill>
                  <a:srgbClr val="002060"/>
                </a:solidFill>
              </a:rPr>
              <a:t> NCBI.</a:t>
            </a:r>
          </a:p>
          <a:p>
            <a:pPr>
              <a:spcAft>
                <a:spcPts val="600"/>
              </a:spcAft>
            </a:pPr>
            <a:r>
              <a:rPr sz="1500" i="0">
                <a:solidFill>
                  <a:srgbClr val="002060"/>
                </a:solidFill>
              </a:rPr>
              <a:t>Roberts, M., Hayes, W., Hunt, B. R., Mount, S. M., &amp; Yorke, J. A. (2004). Reducing storage requirements for biological sequence comparison. </a:t>
            </a:r>
            <a:r>
              <a:rPr sz="1500" i="1">
                <a:solidFill>
                  <a:srgbClr val="002060"/>
                </a:solidFill>
              </a:rPr>
              <a:t>Bioinformatics, 20</a:t>
            </a:r>
            <a:r>
              <a:rPr sz="1500" i="0">
                <a:solidFill>
                  <a:srgbClr val="002060"/>
                </a:solidFill>
              </a:rPr>
              <a:t>(18), 3363-3369.</a:t>
            </a:r>
          </a:p>
          <a:p>
            <a:pPr>
              <a:spcAft>
                <a:spcPts val="600"/>
              </a:spcAft>
            </a:pPr>
            <a:r>
              <a:rPr sz="1500" i="0">
                <a:solidFill>
                  <a:srgbClr val="002060"/>
                </a:solidFill>
              </a:rPr>
              <a:t>Wu, F., et al. (2020). A new coronavirus associated with human respiratory disease in China. </a:t>
            </a:r>
            <a:r>
              <a:rPr sz="1500" i="1">
                <a:solidFill>
                  <a:srgbClr val="002060"/>
                </a:solidFill>
              </a:rPr>
              <a:t>Nature, 579</a:t>
            </a:r>
            <a:r>
              <a:rPr sz="1500" i="0">
                <a:solidFill>
                  <a:srgbClr val="002060"/>
                </a:solidFill>
              </a:rPr>
              <a:t>, 265-269.</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15</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References</a:t>
            </a:r>
          </a:p>
        </p:txBody>
      </p:sp>
    </p:spTree>
    <p:extLst>
      <p:ext uri="{BB962C8B-B14F-4D97-AF65-F5344CB8AC3E}">
        <p14:creationId xmlns:p14="http://schemas.microsoft.com/office/powerpoint/2010/main" val="1081376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BEB4DCF-16CB-8396-87A1-E37AFD89666A}"/>
              </a:ext>
            </a:extLst>
          </p:cNvPr>
          <p:cNvSpPr>
            <a:spLocks noGrp="1"/>
          </p:cNvSpPr>
          <p:nvPr>
            <p:ph type="dt" sz="half" idx="10"/>
          </p:nvPr>
        </p:nvSpPr>
        <p:spPr/>
        <p:txBody>
          <a:bodyPr/>
          <a:lstStyle/>
          <a:p>
            <a:pPr algn="ctr"/>
            <a:fld id="{6BA3F8B8-C75C-44FF-9C37-B9B69285372F}" type="datetime2">
              <a:rPr lang="en-IN" smtClean="0"/>
              <a:t>Sunday, 15 February 2026</a:t>
            </a:fld>
            <a:endParaRPr lang="en-IN" dirty="0"/>
          </a:p>
        </p:txBody>
      </p:sp>
      <p:sp>
        <p:nvSpPr>
          <p:cNvPr id="4" name="Slide Number Placeholder 3">
            <a:extLst>
              <a:ext uri="{FF2B5EF4-FFF2-40B4-BE49-F238E27FC236}">
                <a16:creationId xmlns:a16="http://schemas.microsoft.com/office/drawing/2014/main" id="{247BC478-F0AA-1301-724C-04C081C8A3CB}"/>
              </a:ext>
            </a:extLst>
          </p:cNvPr>
          <p:cNvSpPr>
            <a:spLocks noGrp="1"/>
          </p:cNvSpPr>
          <p:nvPr>
            <p:ph type="sldNum" sz="quarter" idx="12"/>
          </p:nvPr>
        </p:nvSpPr>
        <p:spPr/>
        <p:txBody>
          <a:bodyPr/>
          <a:lstStyle/>
          <a:p>
            <a:fld id="{9BA15CD2-76D6-4EFE-91D9-7087332E3318}" type="slidenum">
              <a:rPr lang="en-IN" smtClean="0"/>
              <a:pPr/>
              <a:t>17</a:t>
            </a:fld>
            <a:endParaRPr lang="en-IN" dirty="0"/>
          </a:p>
        </p:txBody>
      </p:sp>
      <p:pic>
        <p:nvPicPr>
          <p:cNvPr id="5" name="Picture 4">
            <a:extLst>
              <a:ext uri="{FF2B5EF4-FFF2-40B4-BE49-F238E27FC236}">
                <a16:creationId xmlns:a16="http://schemas.microsoft.com/office/drawing/2014/main" id="{96390A6D-369A-D728-5F7B-C3DF82DD90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1253120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10088</TotalTime>
  <Words>1239</Words>
  <Application>Microsoft Office PowerPoint</Application>
  <PresentationFormat>Widescreen</PresentationFormat>
  <Paragraphs>116</Paragraphs>
  <Slides>17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Bookman Old Style</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Anand Raghavan</cp:lastModifiedBy>
  <cp:revision>502</cp:revision>
  <cp:lastPrinted>2024-02-20T07:16:26Z</cp:lastPrinted>
  <dcterms:created xsi:type="dcterms:W3CDTF">2021-06-02T13:10:21Z</dcterms:created>
  <dcterms:modified xsi:type="dcterms:W3CDTF">2026-02-15T08:49:33Z</dcterms:modified>
</cp:coreProperties>
</file>